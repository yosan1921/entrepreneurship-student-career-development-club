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9" r:id="rId3"/>
    <p:sldId id="256" r:id="rId4"/>
    <p:sldId id="257" r:id="rId5"/>
    <p:sldId id="258" r:id="rId6"/>
    <p:sldId id="259" r:id="rId7"/>
    <p:sldId id="260" r:id="rId8"/>
    <p:sldId id="261" r:id="rId9"/>
    <p:sldId id="262" r:id="rId10"/>
    <p:sldId id="263" r:id="rId11"/>
    <p:sldId id="264" r:id="rId12"/>
    <p:sldId id="265" r:id="rId13"/>
    <p:sldId id="266" r:id="rId14"/>
    <p:sldId id="267"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89" r:id="rId34"/>
    <p:sldId id="290" r:id="rId35"/>
    <p:sldId id="291" r:id="rId36"/>
    <p:sldId id="292" r:id="rId37"/>
    <p:sldId id="28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2" d="100"/>
          <a:sy n="92" d="100"/>
        </p:scale>
        <p:origin x="92" y="2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D75138A-E274-46DE-99AA-B70795FC7870}" type="datetimeFigureOut">
              <a:rPr lang="en-GB" smtClean="0"/>
              <a:t>31/12/2025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27267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75138A-E274-46DE-99AA-B70795FC7870}" type="datetimeFigureOut">
              <a:rPr lang="en-GB" smtClean="0"/>
              <a:t>31/12/2025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3461872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5138A-E274-46DE-99AA-B70795FC7870}" type="datetimeFigureOut">
              <a:rPr lang="en-GB" smtClean="0"/>
              <a:t>31/12/2025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210956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D75138A-E274-46DE-99AA-B70795FC7870}" type="datetimeFigureOut">
              <a:rPr lang="en-GB" smtClean="0"/>
              <a:t>31/12/2025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1559385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D75138A-E274-46DE-99AA-B70795FC7870}" type="datetimeFigureOut">
              <a:rPr lang="en-GB" smtClean="0"/>
              <a:t>31/12/2025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406372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D75138A-E274-46DE-99AA-B70795FC7870}" type="datetimeFigureOut">
              <a:rPr lang="en-GB" smtClean="0"/>
              <a:t>31/12/2025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3166763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75138A-E274-46DE-99AA-B70795FC7870}" type="datetimeFigureOut">
              <a:rPr lang="en-GB" smtClean="0"/>
              <a:t>31/12/2025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859767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75138A-E274-46DE-99AA-B70795FC7870}" type="datetimeFigureOut">
              <a:rPr lang="en-GB" smtClean="0"/>
              <a:t>31/12/2025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3855973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75138A-E274-46DE-99AA-B70795FC7870}" type="datetimeFigureOut">
              <a:rPr lang="en-GB" smtClean="0"/>
              <a:t>31/12/2025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3897081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75138A-E274-46DE-99AA-B70795FC7870}" type="datetimeFigureOut">
              <a:rPr lang="en-GB" smtClean="0"/>
              <a:t>31/12/2025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45273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75138A-E274-46DE-99AA-B70795FC7870}" type="datetimeFigureOut">
              <a:rPr lang="en-GB" smtClean="0"/>
              <a:t>31/12/2025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5FC7D4-9814-48BB-84FD-B8E4D6B0054E}" type="slidenum">
              <a:rPr lang="en-GB" smtClean="0"/>
              <a:t>‹#›</a:t>
            </a:fld>
            <a:endParaRPr lang="en-GB"/>
          </a:p>
        </p:txBody>
      </p:sp>
    </p:spTree>
    <p:extLst>
      <p:ext uri="{BB962C8B-B14F-4D97-AF65-F5344CB8AC3E}">
        <p14:creationId xmlns:p14="http://schemas.microsoft.com/office/powerpoint/2010/main" val="397035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5138A-E274-46DE-99AA-B70795FC7870}" type="datetimeFigureOut">
              <a:rPr lang="en-GB" smtClean="0"/>
              <a:t>31/12/2025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5FC7D4-9814-48BB-84FD-B8E4D6B0054E}" type="slidenum">
              <a:rPr lang="en-GB" smtClean="0"/>
              <a:t>‹#›</a:t>
            </a:fld>
            <a:endParaRPr lang="en-GB"/>
          </a:p>
        </p:txBody>
      </p:sp>
    </p:spTree>
    <p:extLst>
      <p:ext uri="{BB962C8B-B14F-4D97-AF65-F5344CB8AC3E}">
        <p14:creationId xmlns:p14="http://schemas.microsoft.com/office/powerpoint/2010/main" val="852180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400" dirty="0" err="1">
                <a:latin typeface="Times New Roman" panose="02020603050405020304" pitchFamily="18" charset="0"/>
                <a:cs typeface="Times New Roman" panose="02020603050405020304" pitchFamily="18" charset="0"/>
              </a:rPr>
              <a:t>NoSql</a:t>
            </a:r>
            <a:r>
              <a:rPr lang="en-GB" sz="3400" dirty="0">
                <a:latin typeface="Times New Roman" panose="02020603050405020304" pitchFamily="18" charset="0"/>
                <a:cs typeface="Times New Roman" panose="02020603050405020304" pitchFamily="18" charset="0"/>
              </a:rPr>
              <a:t> Database</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NoSQL databases (aka "not only SQL") are non-tabular databases and store data differently than relational tables. </a:t>
            </a:r>
          </a:p>
          <a:p>
            <a:r>
              <a:rPr lang="en-US" sz="2400" dirty="0">
                <a:latin typeface="Times New Roman" panose="02020603050405020304" pitchFamily="18" charset="0"/>
                <a:cs typeface="Times New Roman" panose="02020603050405020304" pitchFamily="18" charset="0"/>
              </a:rPr>
              <a:t>NoSQL databases come in a variety of types based on their data model. The main types are document, key-value, wide-column, and graph. They provide flexible schemas and scale easily with large amounts of data and high user loads.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909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000" dirty="0" err="1">
                <a:latin typeface="Times New Roman" panose="02020603050405020304" pitchFamily="18" charset="0"/>
                <a:cs typeface="Times New Roman" panose="02020603050405020304" pitchFamily="18" charset="0"/>
              </a:rPr>
              <a:t>NoSql</a:t>
            </a:r>
            <a:r>
              <a:rPr lang="en-GB" sz="3000" dirty="0">
                <a:latin typeface="Times New Roman" panose="02020603050405020304" pitchFamily="18" charset="0"/>
                <a:cs typeface="Times New Roman" panose="02020603050405020304" pitchFamily="18" charset="0"/>
              </a:rPr>
              <a:t> Database Features</a:t>
            </a:r>
            <a:endParaRPr lang="en-GB" sz="3000" dirty="0"/>
          </a:p>
        </p:txBody>
      </p:sp>
      <p:sp>
        <p:nvSpPr>
          <p:cNvPr id="3" name="Content Placeholder 2"/>
          <p:cNvSpPr>
            <a:spLocks noGrp="1"/>
          </p:cNvSpPr>
          <p:nvPr>
            <p:ph idx="1"/>
          </p:nvPr>
        </p:nvSpPr>
        <p:spPr/>
        <p:txBody>
          <a:bodyPr/>
          <a:lstStyle/>
          <a:p>
            <a:r>
              <a:rPr lang="en-GB" sz="2400" dirty="0">
                <a:latin typeface="Times New Roman" panose="02020603050405020304" pitchFamily="18" charset="0"/>
                <a:cs typeface="Times New Roman" panose="02020603050405020304" pitchFamily="18" charset="0"/>
              </a:rPr>
              <a:t>Horizontal Scaling</a:t>
            </a:r>
          </a:p>
          <a:p>
            <a:r>
              <a:rPr lang="en-GB" sz="2400" dirty="0">
                <a:latin typeface="Times New Roman" panose="02020603050405020304" pitchFamily="18" charset="0"/>
                <a:cs typeface="Times New Roman" panose="02020603050405020304" pitchFamily="18" charset="0"/>
              </a:rPr>
              <a:t>Flexible Schemas</a:t>
            </a:r>
          </a:p>
          <a:p>
            <a:r>
              <a:rPr lang="en-GB" sz="2400" dirty="0">
                <a:latin typeface="Times New Roman" panose="02020603050405020304" pitchFamily="18" charset="0"/>
                <a:cs typeface="Times New Roman" panose="02020603050405020304" pitchFamily="18" charset="0"/>
              </a:rPr>
              <a:t>Fast queries</a:t>
            </a:r>
          </a:p>
          <a:p>
            <a:pPr marL="0" indent="0">
              <a:buNone/>
            </a:pPr>
            <a:endParaRPr lang="en-GB" dirty="0"/>
          </a:p>
          <a:p>
            <a:endParaRPr lang="en-GB" dirty="0"/>
          </a:p>
        </p:txBody>
      </p:sp>
    </p:spTree>
    <p:extLst>
      <p:ext uri="{BB962C8B-B14F-4D97-AF65-F5344CB8AC3E}">
        <p14:creationId xmlns:p14="http://schemas.microsoft.com/office/powerpoint/2010/main" val="1552650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265237"/>
          </a:xfrm>
        </p:spPr>
        <p:txBody>
          <a:bodyPr/>
          <a:lstStyle/>
          <a:p>
            <a:r>
              <a:rPr lang="en-GB" dirty="0"/>
              <a:t>Amazon </a:t>
            </a:r>
            <a:r>
              <a:rPr lang="en-US" dirty="0" err="1">
                <a:latin typeface="Times New Roman" panose="02020603050405020304" pitchFamily="18" charset="0"/>
                <a:cs typeface="Times New Roman" panose="02020603050405020304" pitchFamily="18" charset="0"/>
              </a:rPr>
              <a:t>DynamoDB</a:t>
            </a:r>
            <a:endParaRPr lang="en-GB" dirty="0"/>
          </a:p>
        </p:txBody>
      </p:sp>
      <p:sp>
        <p:nvSpPr>
          <p:cNvPr id="3" name="Subtitle 2"/>
          <p:cNvSpPr>
            <a:spLocks noGrp="1"/>
          </p:cNvSpPr>
          <p:nvPr>
            <p:ph type="subTitle" idx="1"/>
          </p:nvPr>
        </p:nvSpPr>
        <p:spPr>
          <a:xfrm>
            <a:off x="1524000" y="2387600"/>
            <a:ext cx="9144000" cy="3721100"/>
          </a:xfrm>
        </p:spPr>
        <p:txBody>
          <a:bodyPr/>
          <a:lstStyle/>
          <a:p>
            <a:pPr marL="342900" indent="-342900" algn="l">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Amazon </a:t>
            </a:r>
            <a:r>
              <a:rPr lang="en-US" dirty="0" err="1">
                <a:latin typeface="Times New Roman" panose="02020603050405020304" pitchFamily="18" charset="0"/>
                <a:cs typeface="Times New Roman" panose="02020603050405020304" pitchFamily="18" charset="0"/>
              </a:rPr>
              <a:t>DynamoDB</a:t>
            </a:r>
            <a:r>
              <a:rPr lang="en-US" dirty="0">
                <a:latin typeface="Times New Roman" panose="02020603050405020304" pitchFamily="18" charset="0"/>
                <a:cs typeface="Times New Roman" panose="02020603050405020304" pitchFamily="18" charset="0"/>
              </a:rPr>
              <a:t> is a fully managed NoSQL database service that provides fast and predictable performance with seamless scalability. </a:t>
            </a:r>
          </a:p>
          <a:p>
            <a:pPr marL="342900" indent="-342900" algn="l">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DynamoDB</a:t>
            </a:r>
            <a:r>
              <a:rPr lang="en-US" dirty="0">
                <a:latin typeface="Times New Roman" panose="02020603050405020304" pitchFamily="18" charset="0"/>
                <a:cs typeface="Times New Roman" panose="02020603050405020304" pitchFamily="18" charset="0"/>
              </a:rPr>
              <a:t> lets you offload the administrative burdens of operating and scaling a distributed database so that you don't have to worry about hardware provisioning, setup and configuration, replication, software patching, or cluster scaling.</a:t>
            </a:r>
          </a:p>
          <a:p>
            <a:pPr marL="342900" indent="-342900" algn="l">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With </a:t>
            </a:r>
            <a:r>
              <a:rPr lang="en-US" dirty="0" err="1">
                <a:latin typeface="Times New Roman" panose="02020603050405020304" pitchFamily="18" charset="0"/>
                <a:cs typeface="Times New Roman" panose="02020603050405020304" pitchFamily="18" charset="0"/>
              </a:rPr>
              <a:t>DynamoDB</a:t>
            </a:r>
            <a:r>
              <a:rPr lang="en-US" dirty="0">
                <a:latin typeface="Times New Roman" panose="02020603050405020304" pitchFamily="18" charset="0"/>
                <a:cs typeface="Times New Roman" panose="02020603050405020304" pitchFamily="18" charset="0"/>
              </a:rPr>
              <a:t>, you can create database tables that can store and retrieve any amount of data and serve any level of request traffic.</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6698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Core Components of Amazon </a:t>
            </a:r>
            <a:r>
              <a:rPr lang="en-US" sz="3200" dirty="0" err="1">
                <a:latin typeface="Times New Roman" panose="02020603050405020304" pitchFamily="18" charset="0"/>
                <a:cs typeface="Times New Roman" panose="02020603050405020304" pitchFamily="18" charset="0"/>
              </a:rPr>
              <a:t>DynamoDB</a:t>
            </a:r>
            <a:endParaRPr lang="en-GB"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500" dirty="0">
                <a:latin typeface="Times New Roman" panose="02020603050405020304" pitchFamily="18" charset="0"/>
                <a:cs typeface="Times New Roman" panose="02020603050405020304" pitchFamily="18" charset="0"/>
              </a:rPr>
              <a:t>In </a:t>
            </a:r>
            <a:r>
              <a:rPr lang="en-US" sz="2500" dirty="0" err="1">
                <a:latin typeface="Times New Roman" panose="02020603050405020304" pitchFamily="18" charset="0"/>
                <a:cs typeface="Times New Roman" panose="02020603050405020304" pitchFamily="18" charset="0"/>
              </a:rPr>
              <a:t>DynamoDB</a:t>
            </a:r>
            <a:r>
              <a:rPr lang="en-US" sz="2500" dirty="0">
                <a:latin typeface="Times New Roman" panose="02020603050405020304" pitchFamily="18" charset="0"/>
                <a:cs typeface="Times New Roman" panose="02020603050405020304" pitchFamily="18" charset="0"/>
              </a:rPr>
              <a:t>, tables, items, and attributes are the core components that you work with. A table is a collection of items, and each item is a collection of attributes.</a:t>
            </a:r>
          </a:p>
          <a:p>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DynamoDB</a:t>
            </a:r>
            <a:r>
              <a:rPr lang="en-US" sz="2500" dirty="0">
                <a:latin typeface="Times New Roman" panose="02020603050405020304" pitchFamily="18" charset="0"/>
                <a:cs typeface="Times New Roman" panose="02020603050405020304" pitchFamily="18" charset="0"/>
              </a:rPr>
              <a:t> uses primary keys to uniquely identify each item in a table and secondary indexes to provide more querying flexibility</a:t>
            </a:r>
            <a:endParaRPr lang="en-GB"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188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dirty="0">
                <a:latin typeface="Times New Roman" panose="02020603050405020304" pitchFamily="18" charset="0"/>
                <a:cs typeface="Times New Roman" panose="02020603050405020304" pitchFamily="18" charset="0"/>
              </a:rPr>
              <a:t>Tables, Items, and Attributes</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Tables – Similar to other database systems,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stores data in tables. A table is a collection of data.</a:t>
            </a:r>
          </a:p>
          <a:p>
            <a:r>
              <a:rPr lang="en-US" sz="2400" dirty="0">
                <a:latin typeface="Times New Roman" panose="02020603050405020304" pitchFamily="18" charset="0"/>
                <a:cs typeface="Times New Roman" panose="02020603050405020304" pitchFamily="18" charset="0"/>
              </a:rPr>
              <a:t>Items in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are similar in many ways to rows, records, or tuples in other database systems. In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there is no limit to the number of items you can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store in a table</a:t>
            </a:r>
          </a:p>
          <a:p>
            <a:r>
              <a:rPr lang="en-US" sz="2400" dirty="0"/>
              <a:t>Attributes – Each item is composed of one or more attributes. An attribute is a fundamental data element, something that does not need to be broken down any further. For example, an item in a People table contains attributes called </a:t>
            </a:r>
            <a:r>
              <a:rPr lang="en-US" sz="2400" dirty="0" err="1"/>
              <a:t>PersonID</a:t>
            </a:r>
            <a:r>
              <a:rPr lang="en-US" sz="2400" dirty="0"/>
              <a:t>, </a:t>
            </a:r>
            <a:r>
              <a:rPr lang="en-US" sz="2400" dirty="0" err="1"/>
              <a:t>LastName</a:t>
            </a:r>
            <a:r>
              <a:rPr lang="en-US" sz="2400" dirty="0"/>
              <a:t>, </a:t>
            </a:r>
            <a:r>
              <a:rPr lang="en-US" sz="2400" dirty="0" err="1"/>
              <a:t>FirstName</a:t>
            </a:r>
            <a:r>
              <a:rPr lang="en-US" sz="2400" dirty="0"/>
              <a:t>, and so on.</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0081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latin typeface="Times New Roman" panose="02020603050405020304" pitchFamily="18" charset="0"/>
                <a:cs typeface="Times New Roman" panose="02020603050405020304" pitchFamily="18" charset="0"/>
              </a:rPr>
              <a:t>Cont</a:t>
            </a:r>
            <a:r>
              <a:rPr lang="en-GB"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You can use </a:t>
            </a:r>
            <a:r>
              <a:rPr lang="en-US" dirty="0" err="1">
                <a:latin typeface="Times New Roman" panose="02020603050405020304" pitchFamily="18" charset="0"/>
                <a:cs typeface="Times New Roman" panose="02020603050405020304" pitchFamily="18" charset="0"/>
              </a:rPr>
              <a:t>DynamoDB</a:t>
            </a:r>
            <a:r>
              <a:rPr lang="en-US" dirty="0">
                <a:latin typeface="Times New Roman" panose="02020603050405020304" pitchFamily="18" charset="0"/>
                <a:cs typeface="Times New Roman" panose="02020603050405020304" pitchFamily="18" charset="0"/>
              </a:rPr>
              <a:t> Streams together with AWS Lambda to create a trigger—code that runs automatically whenever an event of interest appears in a stream. </a:t>
            </a:r>
          </a:p>
          <a:p>
            <a:r>
              <a:rPr lang="en-US" dirty="0">
                <a:latin typeface="Times New Roman" panose="02020603050405020304" pitchFamily="18" charset="0"/>
                <a:cs typeface="Times New Roman" panose="02020603050405020304" pitchFamily="18" charset="0"/>
              </a:rPr>
              <a:t>For example, consider a Customers table that contains customer information for a company. Suppose that you want to send a "welcome“ email to each new customer. You could enable a stream on that table, and then associate the stream with a Lambda function.</a:t>
            </a:r>
          </a:p>
          <a:p>
            <a:r>
              <a:rPr lang="en-US" dirty="0">
                <a:latin typeface="Times New Roman" panose="02020603050405020304" pitchFamily="18" charset="0"/>
                <a:cs typeface="Times New Roman" panose="02020603050405020304" pitchFamily="18" charset="0"/>
              </a:rPr>
              <a:t> The Lambda function would run whenever a new stream record appears, but only process new items added to the Customers table.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371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pic>
        <p:nvPicPr>
          <p:cNvPr id="4" name="Content Placeholder 3"/>
          <p:cNvPicPr>
            <a:picLocks noGrp="1" noChangeAspect="1"/>
          </p:cNvPicPr>
          <p:nvPr>
            <p:ph idx="1"/>
          </p:nvPr>
        </p:nvPicPr>
        <p:blipFill>
          <a:blip r:embed="rId2"/>
          <a:stretch>
            <a:fillRect/>
          </a:stretch>
        </p:blipFill>
        <p:spPr>
          <a:xfrm>
            <a:off x="1574801" y="1346200"/>
            <a:ext cx="7765692" cy="5168899"/>
          </a:xfrm>
          <a:prstGeom prst="rect">
            <a:avLst/>
          </a:prstGeom>
        </p:spPr>
      </p:pic>
    </p:spTree>
    <p:extLst>
      <p:ext uri="{BB962C8B-B14F-4D97-AF65-F5344CB8AC3E}">
        <p14:creationId xmlns:p14="http://schemas.microsoft.com/office/powerpoint/2010/main" val="3721492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400" dirty="0" err="1">
                <a:latin typeface="Times New Roman" panose="02020603050405020304" pitchFamily="18" charset="0"/>
                <a:cs typeface="Times New Roman" panose="02020603050405020304" pitchFamily="18" charset="0"/>
              </a:rPr>
              <a:t>DynamoDB</a:t>
            </a:r>
            <a:r>
              <a:rPr lang="en-GB" sz="3400" dirty="0">
                <a:latin typeface="Times New Roman" panose="02020603050405020304" pitchFamily="18" charset="0"/>
                <a:cs typeface="Times New Roman" panose="02020603050405020304" pitchFamily="18" charset="0"/>
              </a:rPr>
              <a:t> API</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work with Amazon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your application must use a few simple API operations.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Control Plane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Data Plane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Streams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Transactions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7658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400" dirty="0">
                <a:latin typeface="Times New Roman" panose="02020603050405020304" pitchFamily="18" charset="0"/>
                <a:cs typeface="Times New Roman" panose="02020603050405020304" pitchFamily="18" charset="0"/>
              </a:rPr>
              <a:t>Control Plane</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Control plane operations let you create and manage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tables. They also let you work with indexes, streams, and other objects that are dependent on tables</a:t>
            </a:r>
          </a:p>
          <a:p>
            <a:r>
              <a:rPr lang="en-US" sz="2400" dirty="0" err="1">
                <a:latin typeface="Times New Roman" panose="02020603050405020304" pitchFamily="18" charset="0"/>
                <a:cs typeface="Times New Roman" panose="02020603050405020304" pitchFamily="18" charset="0"/>
              </a:rPr>
              <a:t>CreateTable</a:t>
            </a:r>
            <a:r>
              <a:rPr lang="en-US" sz="2400" dirty="0">
                <a:latin typeface="Times New Roman" panose="02020603050405020304" pitchFamily="18" charset="0"/>
                <a:cs typeface="Times New Roman" panose="02020603050405020304" pitchFamily="18" charset="0"/>
              </a:rPr>
              <a:t> – Creates a new table. Optionally, you can create one or more secondary indexes, and enable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Streams for the table.</a:t>
            </a:r>
          </a:p>
          <a:p>
            <a:r>
              <a:rPr lang="en-US" sz="2400" dirty="0" err="1">
                <a:latin typeface="Times New Roman" panose="02020603050405020304" pitchFamily="18" charset="0"/>
                <a:cs typeface="Times New Roman" panose="02020603050405020304" pitchFamily="18" charset="0"/>
              </a:rPr>
              <a:t>DescribeTable</a:t>
            </a:r>
            <a:r>
              <a:rPr lang="en-US" sz="2400" dirty="0">
                <a:latin typeface="Times New Roman" panose="02020603050405020304" pitchFamily="18" charset="0"/>
                <a:cs typeface="Times New Roman" panose="02020603050405020304" pitchFamily="18" charset="0"/>
              </a:rPr>
              <a:t>– Returns information about a table, such as its primary key schema, throughput settings, and index information.</a:t>
            </a:r>
          </a:p>
          <a:p>
            <a:r>
              <a:rPr lang="en-US" sz="2400" dirty="0" err="1">
                <a:latin typeface="Times New Roman" panose="02020603050405020304" pitchFamily="18" charset="0"/>
                <a:cs typeface="Times New Roman" panose="02020603050405020304" pitchFamily="18" charset="0"/>
              </a:rPr>
              <a:t>ListTables</a:t>
            </a:r>
            <a:r>
              <a:rPr lang="en-US" sz="2400" dirty="0">
                <a:latin typeface="Times New Roman" panose="02020603050405020304" pitchFamily="18" charset="0"/>
                <a:cs typeface="Times New Roman" panose="02020603050405020304" pitchFamily="18" charset="0"/>
              </a:rPr>
              <a:t> – Returns the names of all of your tables in a list.</a:t>
            </a:r>
          </a:p>
          <a:p>
            <a:r>
              <a:rPr lang="en-US" sz="2400" dirty="0" err="1">
                <a:latin typeface="Times New Roman" panose="02020603050405020304" pitchFamily="18" charset="0"/>
                <a:cs typeface="Times New Roman" panose="02020603050405020304" pitchFamily="18" charset="0"/>
              </a:rPr>
              <a:t>UpdateTable</a:t>
            </a:r>
            <a:r>
              <a:rPr lang="en-US" sz="2400" dirty="0">
                <a:latin typeface="Times New Roman" panose="02020603050405020304" pitchFamily="18" charset="0"/>
                <a:cs typeface="Times New Roman" panose="02020603050405020304" pitchFamily="18" charset="0"/>
              </a:rPr>
              <a:t> – Modifies the settings of a table or its indexes, creates or removes new indexes on a table, or modifies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Streams settings for a table.</a:t>
            </a:r>
          </a:p>
          <a:p>
            <a:r>
              <a:rPr lang="en-US" sz="2400" dirty="0" err="1">
                <a:latin typeface="Times New Roman" panose="02020603050405020304" pitchFamily="18" charset="0"/>
                <a:cs typeface="Times New Roman" panose="02020603050405020304" pitchFamily="18" charset="0"/>
              </a:rPr>
              <a:t>DeleteTable</a:t>
            </a:r>
            <a:r>
              <a:rPr lang="en-US" sz="2400" dirty="0">
                <a:latin typeface="Times New Roman" panose="02020603050405020304" pitchFamily="18" charset="0"/>
                <a:cs typeface="Times New Roman" panose="02020603050405020304" pitchFamily="18" charset="0"/>
              </a:rPr>
              <a:t> – Removes a table and all of its dependent objects from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9463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Plane</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Data plane operations let you perform create, read, update, and delete (also called CRUD) actions on data in a table. Some of the data plane operations also let you read data from a secondary index.</a:t>
            </a:r>
          </a:p>
          <a:p>
            <a:r>
              <a:rPr lang="en-GB" sz="2400" dirty="0">
                <a:latin typeface="Times New Roman" panose="02020603050405020304" pitchFamily="18" charset="0"/>
                <a:cs typeface="Times New Roman" panose="02020603050405020304" pitchFamily="18" charset="0"/>
              </a:rPr>
              <a:t>Creating Data</a:t>
            </a:r>
          </a:p>
          <a:p>
            <a:pPr lvl="1"/>
            <a:r>
              <a:rPr lang="en-GB" dirty="0" err="1">
                <a:latin typeface="Times New Roman" panose="02020603050405020304" pitchFamily="18" charset="0"/>
                <a:cs typeface="Times New Roman" panose="02020603050405020304" pitchFamily="18" charset="0"/>
              </a:rPr>
              <a:t>PutItem</a:t>
            </a:r>
            <a:r>
              <a:rPr lang="en-US" dirty="0">
                <a:latin typeface="Times New Roman" panose="02020603050405020304" pitchFamily="18" charset="0"/>
                <a:cs typeface="Times New Roman" panose="02020603050405020304" pitchFamily="18" charset="0"/>
              </a:rPr>
              <a:t>– Writes up single items to a table. </a:t>
            </a:r>
            <a:endParaRPr lang="en-GB" dirty="0">
              <a:latin typeface="Times New Roman" panose="02020603050405020304" pitchFamily="18" charset="0"/>
              <a:cs typeface="Times New Roman" panose="02020603050405020304" pitchFamily="18" charset="0"/>
            </a:endParaRPr>
          </a:p>
          <a:p>
            <a:pPr lvl="1"/>
            <a:r>
              <a:rPr lang="en-GB" dirty="0" err="1">
                <a:latin typeface="Times New Roman" panose="02020603050405020304" pitchFamily="18" charset="0"/>
                <a:cs typeface="Times New Roman" panose="02020603050405020304" pitchFamily="18" charset="0"/>
              </a:rPr>
              <a:t>BatchWriteItem</a:t>
            </a:r>
            <a:r>
              <a:rPr lang="en-GB"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Writes up to 25 items to a table. </a:t>
            </a:r>
          </a:p>
          <a:p>
            <a:r>
              <a:rPr lang="en-GB" sz="2400" dirty="0">
                <a:latin typeface="Times New Roman" panose="02020603050405020304" pitchFamily="18" charset="0"/>
                <a:cs typeface="Times New Roman" panose="02020603050405020304" pitchFamily="18" charset="0"/>
              </a:rPr>
              <a:t>Reading Data</a:t>
            </a:r>
          </a:p>
          <a:p>
            <a:pPr lvl="1"/>
            <a:r>
              <a:rPr lang="en-US" dirty="0" err="1">
                <a:latin typeface="Times New Roman" panose="02020603050405020304" pitchFamily="18" charset="0"/>
                <a:cs typeface="Times New Roman" panose="02020603050405020304" pitchFamily="18" charset="0"/>
              </a:rPr>
              <a:t>GetItem</a:t>
            </a:r>
            <a:r>
              <a:rPr lang="en-US" dirty="0">
                <a:latin typeface="Times New Roman" panose="02020603050405020304" pitchFamily="18" charset="0"/>
                <a:cs typeface="Times New Roman" panose="02020603050405020304" pitchFamily="18" charset="0"/>
              </a:rPr>
              <a:t> – Retrieves a single item from a table.</a:t>
            </a:r>
          </a:p>
          <a:p>
            <a:pPr lvl="1"/>
            <a:r>
              <a:rPr lang="en-US" dirty="0" err="1">
                <a:latin typeface="Times New Roman" panose="02020603050405020304" pitchFamily="18" charset="0"/>
                <a:cs typeface="Times New Roman" panose="02020603050405020304" pitchFamily="18" charset="0"/>
              </a:rPr>
              <a:t>BatchGetItem</a:t>
            </a:r>
            <a:r>
              <a:rPr lang="en-US" dirty="0">
                <a:latin typeface="Times New Roman" panose="02020603050405020304" pitchFamily="18" charset="0"/>
                <a:cs typeface="Times New Roman" panose="02020603050405020304" pitchFamily="18" charset="0"/>
              </a:rPr>
              <a:t> – Retrieves up to 100 items from one or more tables. </a:t>
            </a:r>
            <a:endParaRPr lang="en-GB" dirty="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774460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p:txBody>
          <a:bodyPr>
            <a:normAutofit/>
          </a:bodyPr>
          <a:lstStyle/>
          <a:p>
            <a:r>
              <a:rPr lang="en-GB" sz="2400" dirty="0">
                <a:latin typeface="Times New Roman" panose="02020603050405020304" pitchFamily="18" charset="0"/>
                <a:cs typeface="Times New Roman" panose="02020603050405020304" pitchFamily="18" charset="0"/>
              </a:rPr>
              <a:t>Updating Data</a:t>
            </a:r>
          </a:p>
          <a:p>
            <a:pPr lvl="1"/>
            <a:r>
              <a:rPr lang="en-US" dirty="0" err="1">
                <a:latin typeface="Times New Roman" panose="02020603050405020304" pitchFamily="18" charset="0"/>
                <a:cs typeface="Times New Roman" panose="02020603050405020304" pitchFamily="18" charset="0"/>
              </a:rPr>
              <a:t>UpdateItem</a:t>
            </a:r>
            <a:r>
              <a:rPr lang="en-US" dirty="0">
                <a:latin typeface="Times New Roman" panose="02020603050405020304" pitchFamily="18" charset="0"/>
                <a:cs typeface="Times New Roman" panose="02020603050405020304" pitchFamily="18" charset="0"/>
              </a:rPr>
              <a:t> – Modifies one or more attributes in an item. You must specify the primary key for the item that you want to modify.</a:t>
            </a:r>
          </a:p>
          <a:p>
            <a:r>
              <a:rPr lang="en-GB" sz="2400" dirty="0">
                <a:latin typeface="Times New Roman" panose="02020603050405020304" pitchFamily="18" charset="0"/>
                <a:cs typeface="Times New Roman" panose="02020603050405020304" pitchFamily="18" charset="0"/>
              </a:rPr>
              <a:t>Deleting Data</a:t>
            </a:r>
          </a:p>
          <a:p>
            <a:pPr lvl="1"/>
            <a:r>
              <a:rPr lang="en-US" dirty="0" err="1">
                <a:latin typeface="Times New Roman" panose="02020603050405020304" pitchFamily="18" charset="0"/>
                <a:cs typeface="Times New Roman" panose="02020603050405020304" pitchFamily="18" charset="0"/>
              </a:rPr>
              <a:t>DeleteItem</a:t>
            </a:r>
            <a:r>
              <a:rPr lang="en-US" dirty="0">
                <a:latin typeface="Times New Roman" panose="02020603050405020304" pitchFamily="18" charset="0"/>
                <a:cs typeface="Times New Roman" panose="02020603050405020304" pitchFamily="18" charset="0"/>
              </a:rPr>
              <a:t> – Deletes a single item from a table. You must specify the primary key for the item that you want to delete.</a:t>
            </a:r>
          </a:p>
          <a:p>
            <a:pPr lvl="1"/>
            <a:r>
              <a:rPr lang="en-US" dirty="0" err="1">
                <a:latin typeface="Times New Roman" panose="02020603050405020304" pitchFamily="18" charset="0"/>
                <a:cs typeface="Times New Roman" panose="02020603050405020304" pitchFamily="18" charset="0"/>
              </a:rPr>
              <a:t>BatchWriteItem</a:t>
            </a:r>
            <a:r>
              <a:rPr lang="en-US" dirty="0">
                <a:latin typeface="Times New Roman" panose="02020603050405020304" pitchFamily="18" charset="0"/>
                <a:cs typeface="Times New Roman" panose="02020603050405020304" pitchFamily="18" charset="0"/>
              </a:rPr>
              <a:t> – Deletes up to 25 items from one or more tables. This is more efficient than calling </a:t>
            </a:r>
            <a:r>
              <a:rPr lang="en-US" dirty="0" err="1">
                <a:latin typeface="Times New Roman" panose="02020603050405020304" pitchFamily="18" charset="0"/>
                <a:cs typeface="Times New Roman" panose="02020603050405020304" pitchFamily="18" charset="0"/>
              </a:rPr>
              <a:t>DeleteItem</a:t>
            </a:r>
            <a:r>
              <a:rPr lang="en-US" dirty="0">
                <a:latin typeface="Times New Roman" panose="02020603050405020304" pitchFamily="18" charset="0"/>
                <a:cs typeface="Times New Roman" panose="02020603050405020304" pitchFamily="18" charset="0"/>
              </a:rPr>
              <a:t> multiple times because your application only needs a single network round trip to delete the items.</a:t>
            </a:r>
          </a:p>
          <a:p>
            <a:pPr lvl="1"/>
            <a:r>
              <a:rPr lang="en-US" dirty="0">
                <a:latin typeface="Times New Roman" panose="02020603050405020304" pitchFamily="18" charset="0"/>
                <a:cs typeface="Times New Roman" panose="02020603050405020304" pitchFamily="18" charset="0"/>
              </a:rPr>
              <a:t>You can use </a:t>
            </a:r>
            <a:r>
              <a:rPr lang="en-US" dirty="0" err="1">
                <a:latin typeface="Times New Roman" panose="02020603050405020304" pitchFamily="18" charset="0"/>
                <a:cs typeface="Times New Roman" panose="02020603050405020304" pitchFamily="18" charset="0"/>
              </a:rPr>
              <a:t>BatchWriteItem</a:t>
            </a:r>
            <a:r>
              <a:rPr lang="en-US" dirty="0">
                <a:latin typeface="Times New Roman" panose="02020603050405020304" pitchFamily="18" charset="0"/>
                <a:cs typeface="Times New Roman" panose="02020603050405020304" pitchFamily="18" charset="0"/>
              </a:rPr>
              <a:t> to both create data and delete data.</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3028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Types</a:t>
            </a:r>
          </a:p>
        </p:txBody>
      </p:sp>
      <p:sp>
        <p:nvSpPr>
          <p:cNvPr id="3" name="Content Placeholder 2"/>
          <p:cNvSpPr>
            <a:spLocks noGrp="1"/>
          </p:cNvSpPr>
          <p:nvPr>
            <p:ph idx="1"/>
          </p:nvPr>
        </p:nvSpPr>
        <p:spPr/>
        <p:txBody>
          <a:bodyPr>
            <a:normAutofit/>
          </a:bodyPr>
          <a:lstStyle/>
          <a:p>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supports many different data types for attributes within a table.</a:t>
            </a:r>
          </a:p>
          <a:p>
            <a:pPr lvl="1"/>
            <a:r>
              <a:rPr lang="en-US" dirty="0">
                <a:latin typeface="Times New Roman" panose="02020603050405020304" pitchFamily="18" charset="0"/>
                <a:cs typeface="Times New Roman" panose="02020603050405020304" pitchFamily="18" charset="0"/>
              </a:rPr>
              <a:t>Scalar Types – A scalar type can represent exactly one value. The scalar types are number, string, binary, Boolean, and null.</a:t>
            </a:r>
          </a:p>
          <a:p>
            <a:pPr marL="457200" lvl="1" indent="0">
              <a:buNone/>
            </a:pPr>
            <a:endParaRPr lang="en-US" dirty="0">
              <a:latin typeface="Times New Roman" panose="02020603050405020304" pitchFamily="18" charset="0"/>
              <a:cs typeface="Times New Roman" panose="02020603050405020304" pitchFamily="18" charset="0"/>
            </a:endParaRPr>
          </a:p>
          <a:p>
            <a:pPr lvl="1"/>
            <a:r>
              <a:rPr lang="en-US" dirty="0"/>
              <a:t>Document Types – A document type can represent a complex structure with nested attributes, such as you would find in a JSON document. The document types are list and map.</a:t>
            </a:r>
          </a:p>
          <a:p>
            <a:pPr marL="457200" lvl="1" indent="0">
              <a:buNone/>
            </a:pPr>
            <a:endParaRPr lang="en-US" dirty="0"/>
          </a:p>
          <a:p>
            <a:pPr lvl="1"/>
            <a:r>
              <a:rPr lang="en-US" dirty="0"/>
              <a:t>Set Types – A set type can represent multiple scalar values. The set types are string set, number set, and binary set.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0074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Table classes</a:t>
            </a:r>
          </a:p>
        </p:txBody>
      </p:sp>
      <p:sp>
        <p:nvSpPr>
          <p:cNvPr id="3" name="Content Placeholder 2"/>
          <p:cNvSpPr>
            <a:spLocks noGrp="1"/>
          </p:cNvSpPr>
          <p:nvPr>
            <p:ph idx="1"/>
          </p:nvPr>
        </p:nvSpPr>
        <p:spPr/>
        <p:txBody>
          <a:bodyPr>
            <a:normAutofit fontScale="92500" lnSpcReduction="10000"/>
          </a:bodyPr>
          <a:lstStyle/>
          <a:p>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offers two table classes designed to help you optimize for cost. </a:t>
            </a:r>
          </a:p>
          <a:p>
            <a:pPr lvl="1"/>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DynamoDB</a:t>
            </a:r>
            <a:r>
              <a:rPr lang="en-US" dirty="0">
                <a:latin typeface="Times New Roman" panose="02020603050405020304" pitchFamily="18" charset="0"/>
                <a:cs typeface="Times New Roman" panose="02020603050405020304" pitchFamily="18" charset="0"/>
              </a:rPr>
              <a:t> Standard table class is the default, and is recommended for the vast majority of workloads. </a:t>
            </a:r>
          </a:p>
          <a:p>
            <a:pPr lvl="1"/>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DynamoDB</a:t>
            </a:r>
            <a:r>
              <a:rPr lang="en-US" dirty="0">
                <a:latin typeface="Times New Roman" panose="02020603050405020304" pitchFamily="18" charset="0"/>
                <a:cs typeface="Times New Roman" panose="02020603050405020304" pitchFamily="18" charset="0"/>
              </a:rPr>
              <a:t> Standard-Infrequent Access (</a:t>
            </a:r>
            <a:r>
              <a:rPr lang="en-US" dirty="0" err="1">
                <a:latin typeface="Times New Roman" panose="02020603050405020304" pitchFamily="18" charset="0"/>
                <a:cs typeface="Times New Roman" panose="02020603050405020304" pitchFamily="18" charset="0"/>
              </a:rPr>
              <a:t>DynamoDB</a:t>
            </a:r>
            <a:r>
              <a:rPr lang="en-US" dirty="0">
                <a:latin typeface="Times New Roman" panose="02020603050405020304" pitchFamily="18" charset="0"/>
                <a:cs typeface="Times New Roman" panose="02020603050405020304" pitchFamily="18" charset="0"/>
              </a:rPr>
              <a:t> Standard-IA) table class is optimized for tables where storage is the dominant cost. </a:t>
            </a:r>
          </a:p>
          <a:p>
            <a:pPr lvl="2"/>
            <a:r>
              <a:rPr lang="en-US" sz="2400" dirty="0">
                <a:latin typeface="Times New Roman" panose="02020603050405020304" pitchFamily="18" charset="0"/>
                <a:cs typeface="Times New Roman" panose="02020603050405020304" pitchFamily="18" charset="0"/>
              </a:rPr>
              <a:t>For example, tables that store infrequently accessed data, such as application logs, old social media posts, e-commerce order history, and past gaming achievements, are good candidates for the Standard-IA table class </a:t>
            </a:r>
          </a:p>
          <a:p>
            <a:pPr lvl="1"/>
            <a:r>
              <a:rPr lang="en-US" sz="2600" dirty="0">
                <a:latin typeface="Times New Roman" panose="02020603050405020304" pitchFamily="18" charset="0"/>
                <a:cs typeface="Times New Roman" panose="02020603050405020304" pitchFamily="18" charset="0"/>
              </a:rPr>
              <a:t>Every </a:t>
            </a:r>
            <a:r>
              <a:rPr lang="en-US" sz="2600" dirty="0" err="1">
                <a:latin typeface="Times New Roman" panose="02020603050405020304" pitchFamily="18" charset="0"/>
                <a:cs typeface="Times New Roman" panose="02020603050405020304" pitchFamily="18" charset="0"/>
              </a:rPr>
              <a:t>DynamoDB</a:t>
            </a:r>
            <a:r>
              <a:rPr lang="en-US" sz="2600" dirty="0">
                <a:latin typeface="Times New Roman" panose="02020603050405020304" pitchFamily="18" charset="0"/>
                <a:cs typeface="Times New Roman" panose="02020603050405020304" pitchFamily="18" charset="0"/>
              </a:rPr>
              <a:t> table is associated with a table class (</a:t>
            </a:r>
            <a:r>
              <a:rPr lang="en-US" sz="2600" dirty="0" err="1">
                <a:latin typeface="Times New Roman" panose="02020603050405020304" pitchFamily="18" charset="0"/>
                <a:cs typeface="Times New Roman" panose="02020603050405020304" pitchFamily="18" charset="0"/>
              </a:rPr>
              <a:t>DynamoDB</a:t>
            </a:r>
            <a:r>
              <a:rPr lang="en-US" sz="2600" dirty="0">
                <a:latin typeface="Times New Roman" panose="02020603050405020304" pitchFamily="18" charset="0"/>
                <a:cs typeface="Times New Roman" panose="02020603050405020304" pitchFamily="18" charset="0"/>
              </a:rPr>
              <a:t> Standard by default). </a:t>
            </a:r>
            <a:br>
              <a:rPr lang="en-US" sz="2800" dirty="0"/>
            </a:br>
            <a:br>
              <a:rPr lang="en-US" sz="2800" dirty="0">
                <a:latin typeface="Times New Roman" panose="02020603050405020304" pitchFamily="18" charset="0"/>
                <a:cs typeface="Times New Roman" panose="02020603050405020304" pitchFamily="18" charset="0"/>
              </a:rPr>
            </a:br>
            <a:br>
              <a:rPr lang="en-US" dirty="0"/>
            </a:br>
            <a:endParaRPr lang="en-GB" dirty="0"/>
          </a:p>
        </p:txBody>
      </p:sp>
    </p:spTree>
    <p:extLst>
      <p:ext uri="{BB962C8B-B14F-4D97-AF65-F5344CB8AC3E}">
        <p14:creationId xmlns:p14="http://schemas.microsoft.com/office/powerpoint/2010/main" val="2689546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stores and retrieves each item based on its partition key value.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When you use a database like MySQL, Postgres, or MongoDB, you provision a particular server to run your database. You'll need to choose your instance size -- how many CPUs do you need, how much RAM, how many GBs of storage, etc.</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is not so with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Instead, you provision </a:t>
            </a:r>
            <a:r>
              <a:rPr lang="en-US" sz="2400" i="1" dirty="0">
                <a:latin typeface="Times New Roman" panose="02020603050405020304" pitchFamily="18" charset="0"/>
                <a:cs typeface="Times New Roman" panose="02020603050405020304" pitchFamily="18" charset="0"/>
              </a:rPr>
              <a:t>read and write capacity units</a:t>
            </a:r>
            <a:r>
              <a:rPr lang="en-US" sz="2400" dirty="0">
                <a:latin typeface="Times New Roman" panose="02020603050405020304" pitchFamily="18" charset="0"/>
                <a:cs typeface="Times New Roman" panose="02020603050405020304" pitchFamily="18" charset="0"/>
              </a:rPr>
              <a:t>. These units allow a given number of operations per second. This is a fundamentally different pricing paradigm than the instance-based world -- pricing can more closely reflect actual usage.</a:t>
            </a:r>
          </a:p>
          <a:p>
            <a:pPr marL="0" indent="0">
              <a:buNone/>
            </a:pPr>
            <a:br>
              <a:rPr lang="en-US" dirty="0"/>
            </a:br>
            <a:endParaRPr lang="en-GB" dirty="0"/>
          </a:p>
        </p:txBody>
      </p:sp>
    </p:spTree>
    <p:extLst>
      <p:ext uri="{BB962C8B-B14F-4D97-AF65-F5344CB8AC3E}">
        <p14:creationId xmlns:p14="http://schemas.microsoft.com/office/powerpoint/2010/main" val="2716533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Item and primary key</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An </a:t>
            </a:r>
            <a:r>
              <a:rPr lang="en-US" sz="2400" i="1" dirty="0">
                <a:latin typeface="Times New Roman" panose="02020603050405020304" pitchFamily="18" charset="0"/>
                <a:cs typeface="Times New Roman" panose="02020603050405020304" pitchFamily="18" charset="0"/>
              </a:rPr>
              <a:t>item</a:t>
            </a:r>
            <a:r>
              <a:rPr lang="en-US" sz="2400" dirty="0">
                <a:latin typeface="Times New Roman" panose="02020603050405020304" pitchFamily="18" charset="0"/>
                <a:cs typeface="Times New Roman" panose="02020603050405020304" pitchFamily="18" charset="0"/>
              </a:rPr>
              <a:t> is the core unit of data in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It is comparable to a row in a relational database. Each item is </a:t>
            </a:r>
            <a:r>
              <a:rPr lang="en-US" sz="2400" i="1" dirty="0">
                <a:latin typeface="Times New Roman" panose="02020603050405020304" pitchFamily="18" charset="0"/>
                <a:cs typeface="Times New Roman" panose="02020603050405020304" pitchFamily="18" charset="0"/>
              </a:rPr>
              <a:t>uniquely identifiable</a:t>
            </a:r>
            <a:r>
              <a:rPr lang="en-US" sz="2400" dirty="0">
                <a:latin typeface="Times New Roman" panose="02020603050405020304" pitchFamily="18" charset="0"/>
                <a:cs typeface="Times New Roman" panose="02020603050405020304" pitchFamily="18" charset="0"/>
              </a:rPr>
              <a:t> by a primary key that is set on a table level.</a:t>
            </a:r>
          </a:p>
          <a:p>
            <a:pPr marL="0" indent="0">
              <a:buNone/>
            </a:pPr>
            <a:r>
              <a:rPr lang="en-GB" sz="2400" b="1" dirty="0"/>
              <a:t>Primary Keys</a:t>
            </a:r>
          </a:p>
          <a:p>
            <a:pPr marL="0" indent="0">
              <a:buNone/>
            </a:pPr>
            <a:r>
              <a:rPr lang="en-GB" sz="2400" dirty="0">
                <a:latin typeface="Times New Roman" panose="02020603050405020304" pitchFamily="18" charset="0"/>
                <a:cs typeface="Times New Roman" panose="02020603050405020304" pitchFamily="18" charset="0"/>
              </a:rPr>
              <a:t>  </a:t>
            </a:r>
            <a:r>
              <a:rPr lang="en-US" sz="2400" b="1" i="1" dirty="0"/>
              <a:t>Every item in a table is uniquely identified by its primary key.</a:t>
            </a:r>
          </a:p>
          <a:p>
            <a:pPr>
              <a:buFont typeface="Wingdings" panose="05000000000000000000" pitchFamily="2" charset="2"/>
              <a:buChar char="§"/>
            </a:pPr>
            <a:r>
              <a:rPr lang="en-US" sz="2400" dirty="0"/>
              <a:t>A </a:t>
            </a:r>
            <a:r>
              <a:rPr lang="en-US" sz="2400" b="1" dirty="0"/>
              <a:t>simple primary key</a:t>
            </a:r>
            <a:r>
              <a:rPr lang="en-US" sz="2400" dirty="0"/>
              <a:t> uses a single attribute to identify an item, such as a Username or an </a:t>
            </a:r>
            <a:r>
              <a:rPr lang="en-US" sz="2400" dirty="0" err="1"/>
              <a:t>OrderId</a:t>
            </a:r>
            <a:r>
              <a:rPr lang="en-US" sz="2400" dirty="0"/>
              <a:t>.</a:t>
            </a:r>
          </a:p>
          <a:p>
            <a:pPr>
              <a:buFont typeface="Wingdings" panose="05000000000000000000" pitchFamily="2" charset="2"/>
              <a:buChar char="§"/>
            </a:pPr>
            <a:r>
              <a:rPr lang="en-US" sz="2400" dirty="0"/>
              <a:t>A </a:t>
            </a:r>
            <a:r>
              <a:rPr lang="en-US" sz="2400" b="1" dirty="0"/>
              <a:t>composite primary key</a:t>
            </a:r>
            <a:r>
              <a:rPr lang="en-US" sz="2400" dirty="0"/>
              <a:t> uses a combination of two attributes to identify a particular item. </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1916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400" b="1" dirty="0">
                <a:latin typeface="Times New Roman" panose="02020603050405020304" pitchFamily="18" charset="0"/>
                <a:cs typeface="Times New Roman" panose="02020603050405020304" pitchFamily="18" charset="0"/>
              </a:rPr>
              <a:t>Attributes, Attributes Types</a:t>
            </a:r>
            <a:endParaRPr lang="en-GB" sz="3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item is made up of </a:t>
            </a:r>
            <a:r>
              <a:rPr lang="en-US" sz="2400" i="1" dirty="0">
                <a:latin typeface="Times New Roman" panose="02020603050405020304" pitchFamily="18" charset="0"/>
                <a:cs typeface="Times New Roman" panose="02020603050405020304" pitchFamily="18" charset="0"/>
              </a:rPr>
              <a:t>attributes</a:t>
            </a:r>
            <a:r>
              <a:rPr lang="en-US" sz="2400" dirty="0">
                <a:latin typeface="Times New Roman" panose="02020603050405020304" pitchFamily="18" charset="0"/>
                <a:cs typeface="Times New Roman" panose="02020603050405020304" pitchFamily="18" charset="0"/>
              </a:rPr>
              <a:t>, which are different elements of data on a particular item. For example, an item in the User table might have a Name attribute, an Age attribute, an Address attribute, and more.</a:t>
            </a:r>
          </a:p>
          <a:p>
            <a:pPr>
              <a:buFont typeface="Wingdings" panose="05000000000000000000" pitchFamily="2" charset="2"/>
              <a:buChar char="§"/>
            </a:pPr>
            <a:r>
              <a:rPr lang="en-US" sz="2400" dirty="0"/>
              <a:t>Most attributes in a </a:t>
            </a:r>
            <a:r>
              <a:rPr lang="en-US" sz="2400" dirty="0" err="1"/>
              <a:t>DynamoDB</a:t>
            </a:r>
            <a:r>
              <a:rPr lang="en-US" sz="2400" dirty="0"/>
              <a:t> table are </a:t>
            </a:r>
            <a:r>
              <a:rPr lang="en-US" sz="2400" i="1" dirty="0"/>
              <a:t>not</a:t>
            </a:r>
            <a:r>
              <a:rPr lang="en-US" sz="2400" dirty="0"/>
              <a:t> required for every item. </a:t>
            </a:r>
            <a:r>
              <a:rPr lang="en-US" sz="2400" dirty="0" err="1"/>
              <a:t>DynamoDB</a:t>
            </a:r>
            <a:r>
              <a:rPr lang="en-US" sz="2400" dirty="0"/>
              <a:t> is a NoSQL database which allows for a more flexible data model than the standard relational databases. </a:t>
            </a:r>
          </a:p>
          <a:p>
            <a:pPr>
              <a:buFont typeface="Wingdings" panose="05000000000000000000" pitchFamily="2" charset="2"/>
              <a:buChar char="§"/>
            </a:pPr>
            <a:r>
              <a:rPr lang="en-US" sz="2400" dirty="0"/>
              <a:t>You could store entirely different kinds of objects in a single </a:t>
            </a:r>
            <a:r>
              <a:rPr lang="en-US" sz="2400" dirty="0" err="1"/>
              <a:t>DynamoDB</a:t>
            </a:r>
            <a:r>
              <a:rPr lang="en-US" sz="2400" dirty="0"/>
              <a:t> table, such as a Car object with Make, Model, and Year attributes, and a Pet object with Type, Breed, Age, and Color attributes. </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894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When setting an attribute for a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item, you must specify the type of the attribute. Available types include simple types like strings and numbers as well as composite types like lists, maps, or sets.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Ex</a:t>
            </a:r>
          </a:p>
          <a:p>
            <a:pPr>
              <a:buFont typeface="Wingdings" panose="05000000000000000000" pitchFamily="2" charset="2"/>
              <a:buChar char="§"/>
            </a:pPr>
            <a:endParaRPr lang="en-GB"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604973" y="3281081"/>
            <a:ext cx="5153980" cy="2366683"/>
          </a:xfrm>
          <a:prstGeom prst="rect">
            <a:avLst/>
          </a:prstGeom>
        </p:spPr>
      </p:pic>
    </p:spTree>
    <p:extLst>
      <p:ext uri="{BB962C8B-B14F-4D97-AF65-F5344CB8AC3E}">
        <p14:creationId xmlns:p14="http://schemas.microsoft.com/office/powerpoint/2010/main" val="3071619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table in </a:t>
            </a:r>
            <a:r>
              <a:rPr lang="en-GB" dirty="0" err="1"/>
              <a:t>dynamoDB</a:t>
            </a:r>
            <a:endParaRPr lang="en-GB" dirty="0"/>
          </a:p>
        </p:txBody>
      </p:sp>
      <p:pic>
        <p:nvPicPr>
          <p:cNvPr id="4" name="Content Placeholder 3"/>
          <p:cNvPicPr>
            <a:picLocks noGrp="1" noChangeAspect="1"/>
          </p:cNvPicPr>
          <p:nvPr>
            <p:ph idx="1"/>
          </p:nvPr>
        </p:nvPicPr>
        <p:blipFill>
          <a:blip r:embed="rId2"/>
          <a:stretch>
            <a:fillRect/>
          </a:stretch>
        </p:blipFill>
        <p:spPr>
          <a:xfrm>
            <a:off x="1304365" y="1896034"/>
            <a:ext cx="7086600" cy="4827495"/>
          </a:xfrm>
          <a:prstGeom prst="rect">
            <a:avLst/>
          </a:prstGeom>
        </p:spPr>
      </p:pic>
    </p:spTree>
    <p:extLst>
      <p:ext uri="{BB962C8B-B14F-4D97-AF65-F5344CB8AC3E}">
        <p14:creationId xmlns:p14="http://schemas.microsoft.com/office/powerpoint/2010/main" val="1265265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4" name="Rectangle 1"/>
          <p:cNvSpPr>
            <a:spLocks noGrp="1" noChangeArrowheads="1"/>
          </p:cNvSpPr>
          <p:nvPr>
            <p:ph idx="1"/>
          </p:nvPr>
        </p:nvSpPr>
        <p:spPr bwMode="auto">
          <a:xfrm>
            <a:off x="690282" y="1690688"/>
            <a:ext cx="709489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can view your tables with the list-tables command: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838200" y="2310008"/>
            <a:ext cx="6139984" cy="809710"/>
          </a:xfrm>
          <a:prstGeom prst="rect">
            <a:avLst/>
          </a:prstGeom>
        </p:spPr>
      </p:pic>
    </p:spTree>
    <p:extLst>
      <p:ext uri="{BB962C8B-B14F-4D97-AF65-F5344CB8AC3E}">
        <p14:creationId xmlns:p14="http://schemas.microsoft.com/office/powerpoint/2010/main" val="2434026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p:txBody>
          <a:bodyPr/>
          <a:lstStyle/>
          <a:p>
            <a:r>
              <a:rPr lang="en-GB" dirty="0"/>
              <a:t>You can see detail of table</a:t>
            </a:r>
          </a:p>
          <a:p>
            <a:endParaRPr lang="en-GB" dirty="0"/>
          </a:p>
        </p:txBody>
      </p:sp>
      <p:pic>
        <p:nvPicPr>
          <p:cNvPr id="4" name="Picture 3"/>
          <p:cNvPicPr>
            <a:picLocks noChangeAspect="1"/>
          </p:cNvPicPr>
          <p:nvPr/>
        </p:nvPicPr>
        <p:blipFill>
          <a:blip r:embed="rId2"/>
          <a:stretch>
            <a:fillRect/>
          </a:stretch>
        </p:blipFill>
        <p:spPr>
          <a:xfrm>
            <a:off x="1021416" y="2442883"/>
            <a:ext cx="5074584" cy="1402976"/>
          </a:xfrm>
          <a:prstGeom prst="rect">
            <a:avLst/>
          </a:prstGeom>
        </p:spPr>
      </p:pic>
    </p:spTree>
    <p:extLst>
      <p:ext uri="{BB962C8B-B14F-4D97-AF65-F5344CB8AC3E}">
        <p14:creationId xmlns:p14="http://schemas.microsoft.com/office/powerpoint/2010/main" val="279471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Put Item</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With the </a:t>
            </a:r>
            <a:r>
              <a:rPr lang="en-US" sz="2400" dirty="0" err="1">
                <a:latin typeface="Times New Roman" panose="02020603050405020304" pitchFamily="18" charset="0"/>
                <a:cs typeface="Times New Roman" panose="02020603050405020304" pitchFamily="18" charset="0"/>
              </a:rPr>
              <a:t>PutItem</a:t>
            </a:r>
            <a:r>
              <a:rPr lang="en-US" sz="2400" dirty="0">
                <a:latin typeface="Times New Roman" panose="02020603050405020304" pitchFamily="18" charset="0"/>
                <a:cs typeface="Times New Roman" panose="02020603050405020304" pitchFamily="18" charset="0"/>
              </a:rPr>
              <a:t> call, you provide an entire Item to be placed into your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table.</a:t>
            </a:r>
          </a:p>
          <a:p>
            <a:endParaRPr lang="en-GB"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665474" y="2858620"/>
            <a:ext cx="6873408" cy="2345392"/>
          </a:xfrm>
          <a:prstGeom prst="rect">
            <a:avLst/>
          </a:prstGeom>
        </p:spPr>
      </p:pic>
    </p:spTree>
    <p:extLst>
      <p:ext uri="{BB962C8B-B14F-4D97-AF65-F5344CB8AC3E}">
        <p14:creationId xmlns:p14="http://schemas.microsoft.com/office/powerpoint/2010/main" val="1537172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p:txBody>
          <a:bodyPr/>
          <a:lstStyle/>
          <a:p>
            <a:r>
              <a:rPr lang="en-GB" dirty="0"/>
              <a:t>Without defining attribute at the beginning</a:t>
            </a:r>
          </a:p>
          <a:p>
            <a:endParaRPr lang="en-GB" dirty="0"/>
          </a:p>
        </p:txBody>
      </p:sp>
      <p:pic>
        <p:nvPicPr>
          <p:cNvPr id="4" name="Picture 3"/>
          <p:cNvPicPr>
            <a:picLocks noChangeAspect="1"/>
          </p:cNvPicPr>
          <p:nvPr/>
        </p:nvPicPr>
        <p:blipFill>
          <a:blip r:embed="rId2"/>
          <a:stretch>
            <a:fillRect/>
          </a:stretch>
        </p:blipFill>
        <p:spPr>
          <a:xfrm>
            <a:off x="1815353" y="2457450"/>
            <a:ext cx="7194176" cy="2719668"/>
          </a:xfrm>
          <a:prstGeom prst="rect">
            <a:avLst/>
          </a:prstGeom>
        </p:spPr>
      </p:pic>
    </p:spTree>
    <p:extLst>
      <p:ext uri="{BB962C8B-B14F-4D97-AF65-F5344CB8AC3E}">
        <p14:creationId xmlns:p14="http://schemas.microsoft.com/office/powerpoint/2010/main" val="2066349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Get Item</a:t>
            </a:r>
          </a:p>
        </p:txBody>
      </p:sp>
      <p:sp>
        <p:nvSpPr>
          <p:cNvPr id="3" name="Content Placeholder 2"/>
          <p:cNvSpPr>
            <a:spLocks noGrp="1"/>
          </p:cNvSpPr>
          <p:nvPr>
            <p:ph idx="1"/>
          </p:nvPr>
        </p:nvSpPr>
        <p:spPr/>
        <p:txBody>
          <a:bodyPr/>
          <a:lstStyle/>
          <a:p>
            <a:r>
              <a:rPr lang="en-US" dirty="0"/>
              <a:t>Retrieving Items is done with the </a:t>
            </a:r>
            <a:r>
              <a:rPr lang="en-US" dirty="0" err="1"/>
              <a:t>GetItem</a:t>
            </a:r>
            <a:r>
              <a:rPr lang="en-US" dirty="0"/>
              <a:t> API call.</a:t>
            </a:r>
          </a:p>
          <a:p>
            <a:r>
              <a:rPr lang="en-US" dirty="0"/>
              <a:t>This call requires the table name and the primary key of the Item you want to retrieve. Remember: </a:t>
            </a:r>
            <a:r>
              <a:rPr lang="en-US" i="1" dirty="0"/>
              <a:t>each Item is uniquely identifiable by its primary key</a:t>
            </a:r>
            <a:r>
              <a:rPr lang="en-US" dirty="0"/>
              <a:t>.</a:t>
            </a:r>
          </a:p>
          <a:p>
            <a:r>
              <a:rPr lang="en-US" dirty="0"/>
              <a:t>Ex     </a:t>
            </a:r>
            <a:endParaRPr lang="en-GB" dirty="0"/>
          </a:p>
        </p:txBody>
      </p:sp>
      <p:pic>
        <p:nvPicPr>
          <p:cNvPr id="4" name="Picture 3"/>
          <p:cNvPicPr>
            <a:picLocks noChangeAspect="1"/>
          </p:cNvPicPr>
          <p:nvPr/>
        </p:nvPicPr>
        <p:blipFill>
          <a:blip r:embed="rId2"/>
          <a:stretch>
            <a:fillRect/>
          </a:stretch>
        </p:blipFill>
        <p:spPr>
          <a:xfrm>
            <a:off x="2850776" y="3855943"/>
            <a:ext cx="6212542" cy="2020421"/>
          </a:xfrm>
          <a:prstGeom prst="rect">
            <a:avLst/>
          </a:prstGeom>
        </p:spPr>
      </p:pic>
    </p:spTree>
    <p:extLst>
      <p:ext uri="{BB962C8B-B14F-4D97-AF65-F5344CB8AC3E}">
        <p14:creationId xmlns:p14="http://schemas.microsoft.com/office/powerpoint/2010/main" val="3671995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Sometimes you may want to retrieve only certain attributes when getting an Item. This can be particularly helpful for saving network bandwidth when working with Ex   </a:t>
            </a:r>
          </a:p>
          <a:p>
            <a:endParaRPr lang="en-US" sz="2400" dirty="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824317" y="2756648"/>
            <a:ext cx="8543365" cy="4222376"/>
          </a:xfrm>
          <a:prstGeom prst="rect">
            <a:avLst/>
          </a:prstGeom>
        </p:spPr>
      </p:pic>
    </p:spTree>
    <p:extLst>
      <p:ext uri="{BB962C8B-B14F-4D97-AF65-F5344CB8AC3E}">
        <p14:creationId xmlns:p14="http://schemas.microsoft.com/office/powerpoint/2010/main" val="3194513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Expression basics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Expressions are strings that use </a:t>
            </a:r>
            <a:r>
              <a:rPr lang="en-US" sz="2400" dirty="0" err="1">
                <a:latin typeface="Times New Roman" panose="02020603050405020304" pitchFamily="18" charset="0"/>
                <a:cs typeface="Times New Roman" panose="02020603050405020304" pitchFamily="18" charset="0"/>
              </a:rPr>
              <a:t>DynamoDB's</a:t>
            </a:r>
            <a:r>
              <a:rPr lang="en-US" sz="2400" dirty="0">
                <a:latin typeface="Times New Roman" panose="02020603050405020304" pitchFamily="18" charset="0"/>
                <a:cs typeface="Times New Roman" panose="02020603050405020304" pitchFamily="18" charset="0"/>
              </a:rPr>
              <a:t> domain-specific expression logic to check for the validity of a described statement. With expressions, you can use comparator symbols, such as "=" (equals), "&gt;" (greater than), or "&gt;=" (greater than or equal to). </a:t>
            </a:r>
          </a:p>
          <a:p>
            <a:pPr>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expressions are strings that check for the validity of a particular statement.</a:t>
            </a:r>
          </a:p>
          <a:p>
            <a:pPr marL="0" indent="0">
              <a:buNone/>
            </a:pPr>
            <a:r>
              <a:rPr lang="en-US" sz="2400" dirty="0">
                <a:latin typeface="Times New Roman" panose="02020603050405020304" pitchFamily="18" charset="0"/>
                <a:cs typeface="Times New Roman" panose="02020603050405020304" pitchFamily="18" charset="0"/>
              </a:rPr>
              <a:t>To use </a:t>
            </a:r>
            <a:r>
              <a:rPr lang="en-US" sz="2400" b="1" dirty="0">
                <a:latin typeface="Times New Roman" panose="02020603050405020304" pitchFamily="18" charset="0"/>
                <a:cs typeface="Times New Roman" panose="02020603050405020304" pitchFamily="18" charset="0"/>
              </a:rPr>
              <a:t>expression attribute names</a:t>
            </a:r>
            <a:r>
              <a:rPr lang="en-US" sz="2400" dirty="0">
                <a:latin typeface="Times New Roman" panose="02020603050405020304" pitchFamily="18" charset="0"/>
                <a:cs typeface="Times New Roman" panose="02020603050405020304" pitchFamily="18" charset="0"/>
              </a:rPr>
              <a:t>, you pass in a map where the key is the placeholder to use in your expression and the value is the attribute name you want to expand to. </a:t>
            </a:r>
          </a:p>
          <a:p>
            <a:pPr marL="0" indent="0">
              <a:buNone/>
            </a:pPr>
            <a:r>
              <a:rPr lang="en-US" sz="2400" dirty="0">
                <a:latin typeface="Times New Roman" panose="02020603050405020304" pitchFamily="18" charset="0"/>
                <a:cs typeface="Times New Roman" panose="02020603050405020304" pitchFamily="18" charset="0"/>
              </a:rPr>
              <a:t>For example, if I wanted to use a placeholder of "#a" for my attribute name of "Age", my expression attribute names map would look like:</a:t>
            </a:r>
          </a:p>
          <a:p>
            <a:pPr>
              <a:buFont typeface="Wingdings" panose="05000000000000000000" pitchFamily="2" charset="2"/>
              <a:buChar char="§"/>
            </a:pPr>
            <a:endParaRPr lang="en-GB"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556000" y="6176963"/>
            <a:ext cx="4376737" cy="838200"/>
          </a:xfrm>
          <a:prstGeom prst="rect">
            <a:avLst/>
          </a:prstGeom>
        </p:spPr>
      </p:pic>
    </p:spTree>
    <p:extLst>
      <p:ext uri="{BB962C8B-B14F-4D97-AF65-F5344CB8AC3E}">
        <p14:creationId xmlns:p14="http://schemas.microsoft.com/office/powerpoint/2010/main" val="2520501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latin typeface="Times New Roman" panose="02020603050405020304" pitchFamily="18" charset="0"/>
                <a:cs typeface="Times New Roman" panose="02020603050405020304" pitchFamily="18" charset="0"/>
              </a:rPr>
              <a:t>Cont</a:t>
            </a:r>
            <a:r>
              <a:rPr lang="en-GB"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lstStyle/>
          <a:p>
            <a:r>
              <a:rPr lang="en-GB" dirty="0">
                <a:latin typeface="Times New Roman" panose="02020603050405020304" pitchFamily="18" charset="0"/>
                <a:cs typeface="Times New Roman" panose="02020603050405020304" pitchFamily="18" charset="0"/>
              </a:rPr>
              <a:t>Let’s take some attributes in the created table.</a:t>
            </a:r>
          </a:p>
          <a:p>
            <a:r>
              <a:rPr lang="en-GB" dirty="0">
                <a:latin typeface="Times New Roman" panose="02020603050405020304" pitchFamily="18" charset="0"/>
                <a:cs typeface="Times New Roman" panose="02020603050405020304" pitchFamily="18" charset="0"/>
              </a:rPr>
              <a:t>This </a:t>
            </a:r>
            <a:r>
              <a:rPr lang="en-GB" dirty="0" err="1">
                <a:latin typeface="Times New Roman" panose="02020603050405020304" pitchFamily="18" charset="0"/>
                <a:cs typeface="Times New Roman" panose="02020603050405020304" pitchFamily="18" charset="0"/>
              </a:rPr>
              <a:t>aws</a:t>
            </a:r>
            <a:r>
              <a:rPr lang="en-GB" dirty="0">
                <a:latin typeface="Times New Roman" panose="02020603050405020304" pitchFamily="18" charset="0"/>
                <a:cs typeface="Times New Roman" panose="02020603050405020304" pitchFamily="18" charset="0"/>
              </a:rPr>
              <a:t> cli selects age and username from table </a:t>
            </a:r>
            <a:r>
              <a:rPr lang="en-GB" dirty="0" err="1">
                <a:latin typeface="Times New Roman" panose="02020603050405020304" pitchFamily="18" charset="0"/>
                <a:cs typeface="Times New Roman" panose="02020603050405020304" pitchFamily="18" charset="0"/>
              </a:rPr>
              <a:t>UserTable</a:t>
            </a:r>
            <a:endParaRPr lang="en-GB" dirty="0">
              <a:latin typeface="Times New Roman" panose="02020603050405020304" pitchFamily="18" charset="0"/>
              <a:cs typeface="Times New Roman" panose="02020603050405020304" pitchFamily="18" charset="0"/>
            </a:endParaRPr>
          </a:p>
          <a:p>
            <a:endParaRPr lang="en-GB" dirty="0"/>
          </a:p>
        </p:txBody>
      </p:sp>
      <p:pic>
        <p:nvPicPr>
          <p:cNvPr id="4" name="Picture 3"/>
          <p:cNvPicPr>
            <a:picLocks noChangeAspect="1"/>
          </p:cNvPicPr>
          <p:nvPr/>
        </p:nvPicPr>
        <p:blipFill>
          <a:blip r:embed="rId2"/>
          <a:stretch>
            <a:fillRect/>
          </a:stretch>
        </p:blipFill>
        <p:spPr>
          <a:xfrm>
            <a:off x="1990724" y="3208338"/>
            <a:ext cx="6365875" cy="2968625"/>
          </a:xfrm>
          <a:prstGeom prst="rect">
            <a:avLst/>
          </a:prstGeom>
        </p:spPr>
      </p:pic>
    </p:spTree>
    <p:extLst>
      <p:ext uri="{BB962C8B-B14F-4D97-AF65-F5344CB8AC3E}">
        <p14:creationId xmlns:p14="http://schemas.microsoft.com/office/powerpoint/2010/main" val="1639976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latin typeface="Times New Roman" panose="02020603050405020304" pitchFamily="18" charset="0"/>
                <a:cs typeface="Times New Roman" panose="02020603050405020304" pitchFamily="18" charset="0"/>
              </a:rPr>
              <a:t>Cont</a:t>
            </a:r>
            <a:r>
              <a:rPr lang="en-GB"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lstStyle/>
          <a:p>
            <a:r>
              <a:rPr lang="en-GB" b="1" dirty="0"/>
              <a:t>Expression Attribute Values</a:t>
            </a:r>
          </a:p>
          <a:p>
            <a:r>
              <a:rPr lang="en-US" sz="2200" dirty="0">
                <a:latin typeface="Times New Roman" panose="02020603050405020304" pitchFamily="18" charset="0"/>
                <a:cs typeface="Times New Roman" panose="02020603050405020304" pitchFamily="18" charset="0"/>
              </a:rPr>
              <a:t>Expression attribute values are similar to expression attribute names except that they are used for the </a:t>
            </a:r>
            <a:r>
              <a:rPr lang="en-US" sz="2200" i="1" dirty="0">
                <a:latin typeface="Times New Roman" panose="02020603050405020304" pitchFamily="18" charset="0"/>
                <a:cs typeface="Times New Roman" panose="02020603050405020304" pitchFamily="18" charset="0"/>
              </a:rPr>
              <a:t>values</a:t>
            </a:r>
            <a:r>
              <a:rPr lang="en-US" sz="2200" dirty="0">
                <a:latin typeface="Times New Roman" panose="02020603050405020304" pitchFamily="18" charset="0"/>
                <a:cs typeface="Times New Roman" panose="02020603050405020304" pitchFamily="18" charset="0"/>
              </a:rPr>
              <a:t> used to compare to values of attributes on an Item, rather than the name of the attribute.</a:t>
            </a:r>
          </a:p>
          <a:p>
            <a:r>
              <a:rPr lang="en-US" sz="2400" dirty="0"/>
              <a:t>expression attribute values must start with a colon (":") rather than a # sign</a:t>
            </a:r>
          </a:p>
          <a:p>
            <a:r>
              <a:rPr lang="en-US" sz="2400" dirty="0">
                <a:latin typeface="Times New Roman" panose="02020603050405020304" pitchFamily="18" charset="0"/>
                <a:cs typeface="Times New Roman" panose="02020603050405020304" pitchFamily="18" charset="0"/>
              </a:rPr>
              <a:t>Ex </a:t>
            </a:r>
            <a:endParaRPr lang="en-GB" sz="2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984500" y="4001294"/>
            <a:ext cx="5397500" cy="1878806"/>
          </a:xfrm>
          <a:prstGeom prst="rect">
            <a:avLst/>
          </a:prstGeom>
        </p:spPr>
      </p:pic>
    </p:spTree>
    <p:extLst>
      <p:ext uri="{BB962C8B-B14F-4D97-AF65-F5344CB8AC3E}">
        <p14:creationId xmlns:p14="http://schemas.microsoft.com/office/powerpoint/2010/main" val="1301037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dirty="0">
                <a:latin typeface="Times New Roman" panose="02020603050405020304" pitchFamily="18" charset="0"/>
                <a:cs typeface="Times New Roman" panose="02020603050405020304" pitchFamily="18" charset="0"/>
              </a:rPr>
              <a:t>Update table</a:t>
            </a:r>
          </a:p>
        </p:txBody>
      </p:sp>
      <p:sp>
        <p:nvSpPr>
          <p:cNvPr id="3" name="Content Placeholder 2"/>
          <p:cNvSpPr>
            <a:spLocks noGrp="1"/>
          </p:cNvSpPr>
          <p:nvPr>
            <p:ph idx="1"/>
          </p:nvPr>
        </p:nvSpPr>
        <p:spPr/>
        <p:txBody>
          <a:bodyPr>
            <a:normAutofit/>
          </a:bodyPr>
          <a:lstStyle/>
          <a:p>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has an </a:t>
            </a:r>
            <a:r>
              <a:rPr lang="en-US" sz="2400" dirty="0" err="1">
                <a:latin typeface="Times New Roman" panose="02020603050405020304" pitchFamily="18" charset="0"/>
                <a:cs typeface="Times New Roman" panose="02020603050405020304" pitchFamily="18" charset="0"/>
              </a:rPr>
              <a:t>UpdateItem</a:t>
            </a:r>
            <a:r>
              <a:rPr lang="en-US" sz="2400" dirty="0">
                <a:latin typeface="Times New Roman" panose="02020603050405020304" pitchFamily="18" charset="0"/>
                <a:cs typeface="Times New Roman" panose="02020603050405020304" pitchFamily="18" charset="0"/>
              </a:rPr>
              <a:t> operation which allows you to update an Item directly without first retrieving the Item, manipulating it as desired, then saving it back with a </a:t>
            </a:r>
            <a:r>
              <a:rPr lang="en-US" sz="2400" dirty="0" err="1">
                <a:latin typeface="Times New Roman" panose="02020603050405020304" pitchFamily="18" charset="0"/>
                <a:cs typeface="Times New Roman" panose="02020603050405020304" pitchFamily="18" charset="0"/>
              </a:rPr>
              <a:t>PutItem</a:t>
            </a:r>
            <a:r>
              <a:rPr lang="en-US" sz="2400" dirty="0">
                <a:latin typeface="Times New Roman" panose="02020603050405020304" pitchFamily="18" charset="0"/>
                <a:cs typeface="Times New Roman" panose="02020603050405020304" pitchFamily="18" charset="0"/>
              </a:rPr>
              <a:t> operation.</a:t>
            </a:r>
          </a:p>
          <a:p>
            <a:r>
              <a:rPr lang="en-US" sz="2400" dirty="0">
                <a:latin typeface="Times New Roman" panose="02020603050405020304" pitchFamily="18" charset="0"/>
                <a:cs typeface="Times New Roman" panose="02020603050405020304" pitchFamily="18" charset="0"/>
              </a:rPr>
              <a:t>When using the </a:t>
            </a:r>
            <a:r>
              <a:rPr lang="en-US" sz="2400" dirty="0" err="1">
                <a:latin typeface="Times New Roman" panose="02020603050405020304" pitchFamily="18" charset="0"/>
                <a:cs typeface="Times New Roman" panose="02020603050405020304" pitchFamily="18" charset="0"/>
              </a:rPr>
              <a:t>UpdateItem</a:t>
            </a:r>
            <a:r>
              <a:rPr lang="en-US" sz="2400" dirty="0">
                <a:latin typeface="Times New Roman" panose="02020603050405020304" pitchFamily="18" charset="0"/>
                <a:cs typeface="Times New Roman" panose="02020603050405020304" pitchFamily="18" charset="0"/>
              </a:rPr>
              <a:t> action, you need to specify an </a:t>
            </a:r>
            <a:r>
              <a:rPr lang="en-US" sz="2400" b="1" dirty="0">
                <a:latin typeface="Times New Roman" panose="02020603050405020304" pitchFamily="18" charset="0"/>
                <a:cs typeface="Times New Roman" panose="02020603050405020304" pitchFamily="18" charset="0"/>
              </a:rPr>
              <a:t>update expression</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Ex</a:t>
            </a:r>
            <a:endParaRPr lang="en-GB"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692400" y="3505200"/>
            <a:ext cx="4914900" cy="3073400"/>
          </a:xfrm>
          <a:prstGeom prst="rect">
            <a:avLst/>
          </a:prstGeom>
        </p:spPr>
      </p:pic>
    </p:spTree>
    <p:extLst>
      <p:ext uri="{BB962C8B-B14F-4D97-AF65-F5344CB8AC3E}">
        <p14:creationId xmlns:p14="http://schemas.microsoft.com/office/powerpoint/2010/main" val="1228879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Delete Item</a:t>
            </a:r>
          </a:p>
        </p:txBody>
      </p:sp>
      <p:sp>
        <p:nvSpPr>
          <p:cNvPr id="3" name="Content Placeholder 2"/>
          <p:cNvSpPr>
            <a:spLocks noGrp="1"/>
          </p:cNvSpPr>
          <p:nvPr>
            <p:ph idx="1"/>
          </p:nvPr>
        </p:nvSpPr>
        <p:spPr/>
        <p:txBody>
          <a:bodyPr/>
          <a:lstStyle/>
          <a:p>
            <a:r>
              <a:rPr lang="en-US" dirty="0"/>
              <a:t>The </a:t>
            </a:r>
            <a:r>
              <a:rPr lang="en-US" dirty="0" err="1"/>
              <a:t>DeleteItem</a:t>
            </a:r>
            <a:r>
              <a:rPr lang="en-US" dirty="0"/>
              <a:t> action is pretty simple -- just provide the key of the Item you'd like to delete:</a:t>
            </a:r>
          </a:p>
          <a:p>
            <a:endParaRPr lang="en-GB" dirty="0"/>
          </a:p>
        </p:txBody>
      </p:sp>
      <p:pic>
        <p:nvPicPr>
          <p:cNvPr id="4" name="Picture 3"/>
          <p:cNvPicPr>
            <a:picLocks noChangeAspect="1"/>
          </p:cNvPicPr>
          <p:nvPr/>
        </p:nvPicPr>
        <p:blipFill>
          <a:blip r:embed="rId2"/>
          <a:stretch>
            <a:fillRect/>
          </a:stretch>
        </p:blipFill>
        <p:spPr>
          <a:xfrm>
            <a:off x="3074987" y="2997199"/>
            <a:ext cx="5675313" cy="2570163"/>
          </a:xfrm>
          <a:prstGeom prst="rect">
            <a:avLst/>
          </a:prstGeom>
        </p:spPr>
      </p:pic>
    </p:spTree>
    <p:extLst>
      <p:ext uri="{BB962C8B-B14F-4D97-AF65-F5344CB8AC3E}">
        <p14:creationId xmlns:p14="http://schemas.microsoft.com/office/powerpoint/2010/main" val="3203562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Ex2 you can add a --condition-expression to only delete your Item under certain conditions. Let's say we want to delete Yosemite Sam, but only if he's younger than 21 years old:</a:t>
            </a:r>
          </a:p>
          <a:p>
            <a:endParaRPr lang="en-GB"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3454400" y="3090862"/>
            <a:ext cx="5753099" cy="3221038"/>
          </a:xfrm>
          <a:prstGeom prst="rect">
            <a:avLst/>
          </a:prstGeom>
        </p:spPr>
      </p:pic>
    </p:spTree>
    <p:extLst>
      <p:ext uri="{BB962C8B-B14F-4D97-AF65-F5344CB8AC3E}">
        <p14:creationId xmlns:p14="http://schemas.microsoft.com/office/powerpoint/2010/main" val="3767094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Scan the table</a:t>
            </a:r>
          </a:p>
        </p:txBody>
      </p:sp>
      <p:sp>
        <p:nvSpPr>
          <p:cNvPr id="3" name="Content Placeholder 2"/>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The Scan call is likely the easiest of all </a:t>
            </a:r>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calls. Simply provide a table name, and it will return all Items in the table (up to a 1MB limit):</a:t>
            </a:r>
          </a:p>
          <a:p>
            <a:endParaRPr lang="en-GB" dirty="0"/>
          </a:p>
        </p:txBody>
      </p:sp>
      <p:pic>
        <p:nvPicPr>
          <p:cNvPr id="4" name="Picture 3"/>
          <p:cNvPicPr>
            <a:picLocks noChangeAspect="1"/>
          </p:cNvPicPr>
          <p:nvPr/>
        </p:nvPicPr>
        <p:blipFill>
          <a:blip r:embed="rId2"/>
          <a:stretch>
            <a:fillRect/>
          </a:stretch>
        </p:blipFill>
        <p:spPr>
          <a:xfrm>
            <a:off x="1498600" y="2682874"/>
            <a:ext cx="4743450" cy="1889125"/>
          </a:xfrm>
          <a:prstGeom prst="rect">
            <a:avLst/>
          </a:prstGeom>
        </p:spPr>
      </p:pic>
    </p:spTree>
    <p:extLst>
      <p:ext uri="{BB962C8B-B14F-4D97-AF65-F5344CB8AC3E}">
        <p14:creationId xmlns:p14="http://schemas.microsoft.com/office/powerpoint/2010/main" val="207390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Amazon S3</a:t>
            </a:r>
          </a:p>
        </p:txBody>
      </p:sp>
      <p:sp>
        <p:nvSpPr>
          <p:cNvPr id="3" name="Content Placeholder 2"/>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Amazon S3 is an object storage service that stores data as objects within buckets. An </a:t>
            </a:r>
            <a:r>
              <a:rPr lang="en-US" sz="2400" i="1" dirty="0">
                <a:latin typeface="Times New Roman" panose="02020603050405020304" pitchFamily="18" charset="0"/>
                <a:cs typeface="Times New Roman" panose="02020603050405020304" pitchFamily="18" charset="0"/>
              </a:rPr>
              <a:t>object</a:t>
            </a:r>
            <a:r>
              <a:rPr lang="en-US" sz="2400" dirty="0">
                <a:latin typeface="Times New Roman" panose="02020603050405020304" pitchFamily="18" charset="0"/>
                <a:cs typeface="Times New Roman" panose="02020603050405020304" pitchFamily="18" charset="0"/>
              </a:rPr>
              <a:t> is a file and any metadata that describes the file. A </a:t>
            </a:r>
            <a:r>
              <a:rPr lang="en-US" sz="2400" i="1" dirty="0">
                <a:latin typeface="Times New Roman" panose="02020603050405020304" pitchFamily="18" charset="0"/>
                <a:cs typeface="Times New Roman" panose="02020603050405020304" pitchFamily="18" charset="0"/>
              </a:rPr>
              <a:t>bucket</a:t>
            </a:r>
            <a:r>
              <a:rPr lang="en-US" sz="2400" dirty="0">
                <a:latin typeface="Times New Roman" panose="02020603050405020304" pitchFamily="18" charset="0"/>
                <a:cs typeface="Times New Roman" panose="02020603050405020304" pitchFamily="18" charset="0"/>
              </a:rPr>
              <a:t> is a container for objects. </a:t>
            </a:r>
          </a:p>
          <a:p>
            <a:r>
              <a:rPr lang="en-US" sz="2400" dirty="0">
                <a:latin typeface="Times New Roman" panose="02020603050405020304" pitchFamily="18" charset="0"/>
                <a:cs typeface="Times New Roman" panose="02020603050405020304" pitchFamily="18" charset="0"/>
              </a:rPr>
              <a:t>Amazon S3 terms:</a:t>
            </a:r>
          </a:p>
          <a:p>
            <a:pPr lvl="1"/>
            <a:r>
              <a:rPr lang="en-US" dirty="0">
                <a:latin typeface="Times New Roman" panose="02020603050405020304" pitchFamily="18" charset="0"/>
                <a:cs typeface="Times New Roman" panose="02020603050405020304" pitchFamily="18" charset="0"/>
              </a:rPr>
              <a:t>Bucket – A top-level Amazon S3 folder.</a:t>
            </a:r>
          </a:p>
          <a:p>
            <a:pPr lvl="1"/>
            <a:r>
              <a:rPr lang="en-US" dirty="0">
                <a:latin typeface="Times New Roman" panose="02020603050405020304" pitchFamily="18" charset="0"/>
                <a:cs typeface="Times New Roman" panose="02020603050405020304" pitchFamily="18" charset="0"/>
              </a:rPr>
              <a:t>Prefix – An Amazon S3 folder in a bucket.</a:t>
            </a:r>
          </a:p>
          <a:p>
            <a:pPr lvl="1"/>
            <a:r>
              <a:rPr lang="en-US" dirty="0">
                <a:latin typeface="Times New Roman" panose="02020603050405020304" pitchFamily="18" charset="0"/>
                <a:cs typeface="Times New Roman" panose="02020603050405020304" pitchFamily="18" charset="0"/>
              </a:rPr>
              <a:t>Object – Any item that's hosted in an Amazon S3 bucket.</a:t>
            </a:r>
          </a:p>
          <a:p>
            <a:endParaRPr lang="en-GB" dirty="0"/>
          </a:p>
        </p:txBody>
      </p:sp>
    </p:spTree>
    <p:extLst>
      <p:ext uri="{BB962C8B-B14F-4D97-AF65-F5344CB8AC3E}">
        <p14:creationId xmlns:p14="http://schemas.microsoft.com/office/powerpoint/2010/main" val="30584890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dirty="0" err="1">
                <a:latin typeface="Times New Roman" panose="02020603050405020304" pitchFamily="18" charset="0"/>
                <a:cs typeface="Times New Roman" panose="02020603050405020304" pitchFamily="18" charset="0"/>
              </a:rPr>
              <a:t>Cont</a:t>
            </a:r>
            <a:r>
              <a:rPr lang="en-GB" sz="3200"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To store your data in Amazon S3, you first create a bucket and specify a bucket name and AWS Region. Then, you upload your data to that bucket as objects in Amazon S3. Each object has a </a:t>
            </a:r>
            <a:r>
              <a:rPr lang="en-US" sz="2400" i="1" dirty="0">
                <a:latin typeface="Times New Roman" panose="02020603050405020304" pitchFamily="18" charset="0"/>
                <a:cs typeface="Times New Roman" panose="02020603050405020304" pitchFamily="18" charset="0"/>
              </a:rPr>
              <a:t>key</a:t>
            </a:r>
            <a:r>
              <a:rPr lang="en-US" sz="2400" dirty="0">
                <a:latin typeface="Times New Roman" panose="02020603050405020304" pitchFamily="18" charset="0"/>
                <a:cs typeface="Times New Roman" panose="02020603050405020304" pitchFamily="18" charset="0"/>
              </a:rPr>
              <a:t> (or </a:t>
            </a:r>
            <a:r>
              <a:rPr lang="en-US" sz="2400" i="1" dirty="0">
                <a:latin typeface="Times New Roman" panose="02020603050405020304" pitchFamily="18" charset="0"/>
                <a:cs typeface="Times New Roman" panose="02020603050405020304" pitchFamily="18" charset="0"/>
              </a:rPr>
              <a:t>key name</a:t>
            </a:r>
            <a:r>
              <a:rPr lang="en-US" sz="2400" dirty="0">
                <a:latin typeface="Times New Roman" panose="02020603050405020304" pitchFamily="18" charset="0"/>
                <a:cs typeface="Times New Roman" panose="02020603050405020304" pitchFamily="18" charset="0"/>
              </a:rPr>
              <a:t>), which is the unique identifier for the object within the bucket.</a:t>
            </a:r>
          </a:p>
          <a:p>
            <a:r>
              <a:rPr lang="en-US" sz="2400" dirty="0">
                <a:latin typeface="Times New Roman" panose="02020603050405020304" pitchFamily="18" charset="0"/>
                <a:cs typeface="Times New Roman" panose="02020603050405020304" pitchFamily="18" charset="0"/>
              </a:rPr>
              <a:t>Buckets and the objects in them are private and can be accessed only if you explicitly grant access permissions. You can use bucket policies, AWS Identity and Access Management (IAM) policies, access control lists (ACLs), and S3 Access Points to manage access.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2437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Aws cli commands</a:t>
            </a:r>
          </a:p>
        </p:txBody>
      </p:sp>
      <p:sp>
        <p:nvSpPr>
          <p:cNvPr id="3" name="Content Placeholder 2"/>
          <p:cNvSpPr>
            <a:spLocks noGrp="1"/>
          </p:cNvSpPr>
          <p:nvPr>
            <p:ph idx="1"/>
          </p:nvPr>
        </p:nvSpPr>
        <p:spPr/>
        <p:txBody>
          <a:bodyPr/>
          <a:lstStyle/>
          <a:p>
            <a:r>
              <a:rPr lang="en-GB" dirty="0"/>
              <a:t>To create bucket</a:t>
            </a:r>
          </a:p>
          <a:p>
            <a:endParaRPr lang="en-GB" dirty="0"/>
          </a:p>
          <a:p>
            <a:endParaRPr lang="en-GB" dirty="0"/>
          </a:p>
          <a:p>
            <a:r>
              <a:rPr lang="en-GB" dirty="0"/>
              <a:t>To list available bucket</a:t>
            </a:r>
          </a:p>
          <a:p>
            <a:endParaRPr lang="en-GB" dirty="0"/>
          </a:p>
          <a:p>
            <a:endParaRPr lang="en-GB" dirty="0"/>
          </a:p>
          <a:p>
            <a:r>
              <a:rPr lang="en-GB" dirty="0"/>
              <a:t>To list available object in bucket</a:t>
            </a:r>
          </a:p>
          <a:p>
            <a:pPr marL="0" indent="0">
              <a:buNone/>
            </a:pPr>
            <a:endParaRPr lang="en-GB" dirty="0"/>
          </a:p>
          <a:p>
            <a:pPr marL="0" indent="0">
              <a:buNone/>
            </a:pPr>
            <a:endParaRPr lang="en-GB" dirty="0"/>
          </a:p>
          <a:p>
            <a:endParaRPr lang="en-GB" dirty="0"/>
          </a:p>
        </p:txBody>
      </p:sp>
      <p:pic>
        <p:nvPicPr>
          <p:cNvPr id="4" name="Picture 3"/>
          <p:cNvPicPr>
            <a:picLocks noChangeAspect="1"/>
          </p:cNvPicPr>
          <p:nvPr/>
        </p:nvPicPr>
        <p:blipFill>
          <a:blip r:embed="rId2"/>
          <a:stretch>
            <a:fillRect/>
          </a:stretch>
        </p:blipFill>
        <p:spPr>
          <a:xfrm>
            <a:off x="838200" y="2509441"/>
            <a:ext cx="9070878" cy="808038"/>
          </a:xfrm>
          <a:prstGeom prst="rect">
            <a:avLst/>
          </a:prstGeom>
        </p:spPr>
      </p:pic>
      <p:pic>
        <p:nvPicPr>
          <p:cNvPr id="5" name="Picture 4"/>
          <p:cNvPicPr>
            <a:picLocks noChangeAspect="1"/>
          </p:cNvPicPr>
          <p:nvPr/>
        </p:nvPicPr>
        <p:blipFill>
          <a:blip r:embed="rId3"/>
          <a:stretch>
            <a:fillRect/>
          </a:stretch>
        </p:blipFill>
        <p:spPr>
          <a:xfrm>
            <a:off x="1090612" y="4001294"/>
            <a:ext cx="3544888" cy="545306"/>
          </a:xfrm>
          <a:prstGeom prst="rect">
            <a:avLst/>
          </a:prstGeom>
        </p:spPr>
      </p:pic>
      <p:pic>
        <p:nvPicPr>
          <p:cNvPr id="6" name="Picture 5"/>
          <p:cNvPicPr>
            <a:picLocks noChangeAspect="1"/>
          </p:cNvPicPr>
          <p:nvPr/>
        </p:nvPicPr>
        <p:blipFill>
          <a:blip r:embed="rId4"/>
          <a:stretch>
            <a:fillRect/>
          </a:stretch>
        </p:blipFill>
        <p:spPr>
          <a:xfrm>
            <a:off x="1263650" y="5518150"/>
            <a:ext cx="4032250" cy="406126"/>
          </a:xfrm>
          <a:prstGeom prst="rect">
            <a:avLst/>
          </a:prstGeom>
        </p:spPr>
      </p:pic>
    </p:spTree>
    <p:extLst>
      <p:ext uri="{BB962C8B-B14F-4D97-AF65-F5344CB8AC3E}">
        <p14:creationId xmlns:p14="http://schemas.microsoft.com/office/powerpoint/2010/main" val="22301032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p:txBody>
          <a:bodyPr/>
          <a:lstStyle/>
          <a:p>
            <a:r>
              <a:rPr lang="en-GB" dirty="0"/>
              <a:t>To delete bucket</a:t>
            </a:r>
          </a:p>
          <a:p>
            <a:endParaRPr lang="en-GB" dirty="0"/>
          </a:p>
          <a:p>
            <a:endParaRPr lang="en-GB" dirty="0"/>
          </a:p>
          <a:p>
            <a:r>
              <a:rPr lang="en-GB" dirty="0"/>
              <a:t>To delete object in bucket</a:t>
            </a:r>
          </a:p>
          <a:p>
            <a:endParaRPr lang="en-GB" dirty="0"/>
          </a:p>
          <a:p>
            <a:endParaRPr lang="en-GB" dirty="0"/>
          </a:p>
          <a:p>
            <a:r>
              <a:rPr lang="en-GB" dirty="0"/>
              <a:t>To move object from bucket to bucket</a:t>
            </a:r>
          </a:p>
          <a:p>
            <a:pPr marL="0" indent="0">
              <a:buNone/>
            </a:pPr>
            <a:r>
              <a:rPr lang="en-US" dirty="0"/>
              <a:t>   </a:t>
            </a:r>
            <a:r>
              <a:rPr lang="en-US" sz="2400" b="1" dirty="0">
                <a:solidFill>
                  <a:schemeClr val="accent6"/>
                </a:solidFill>
                <a:latin typeface="Times New Roman" panose="02020603050405020304" pitchFamily="18" charset="0"/>
                <a:cs typeface="Times New Roman" panose="02020603050405020304" pitchFamily="18" charset="0"/>
              </a:rPr>
              <a:t>$</a:t>
            </a:r>
            <a:r>
              <a:rPr lang="en-US" sz="2400" b="1" dirty="0" err="1">
                <a:solidFill>
                  <a:schemeClr val="accent6"/>
                </a:solidFill>
                <a:latin typeface="Times New Roman" panose="02020603050405020304" pitchFamily="18" charset="0"/>
                <a:cs typeface="Times New Roman" panose="02020603050405020304" pitchFamily="18" charset="0"/>
              </a:rPr>
              <a:t>aws</a:t>
            </a:r>
            <a:r>
              <a:rPr lang="en-US" sz="2400" b="1" dirty="0">
                <a:solidFill>
                  <a:schemeClr val="accent6"/>
                </a:solidFill>
                <a:latin typeface="Times New Roman" panose="02020603050405020304" pitchFamily="18" charset="0"/>
                <a:cs typeface="Times New Roman" panose="02020603050405020304" pitchFamily="18" charset="0"/>
              </a:rPr>
              <a:t> s3 mv s3://bucket-name/example s3://my-bucket/</a:t>
            </a:r>
            <a:endParaRPr lang="en-GB" sz="2400" b="1" dirty="0">
              <a:solidFill>
                <a:schemeClr val="accent6"/>
              </a:solidFill>
              <a:latin typeface="Times New Roman" panose="02020603050405020304" pitchFamily="18" charset="0"/>
              <a:cs typeface="Times New Roman" panose="02020603050405020304" pitchFamily="18" charset="0"/>
            </a:endParaRPr>
          </a:p>
          <a:p>
            <a:endParaRPr lang="en-GB" dirty="0"/>
          </a:p>
          <a:p>
            <a:pPr marL="0" indent="0">
              <a:buNone/>
            </a:pPr>
            <a:endParaRPr lang="en-GB" dirty="0"/>
          </a:p>
        </p:txBody>
      </p:sp>
      <p:pic>
        <p:nvPicPr>
          <p:cNvPr id="4" name="Picture 3"/>
          <p:cNvPicPr>
            <a:picLocks noChangeAspect="1"/>
          </p:cNvPicPr>
          <p:nvPr/>
        </p:nvPicPr>
        <p:blipFill>
          <a:blip r:embed="rId2"/>
          <a:stretch>
            <a:fillRect/>
          </a:stretch>
        </p:blipFill>
        <p:spPr>
          <a:xfrm>
            <a:off x="1055687" y="2432050"/>
            <a:ext cx="3643313" cy="501650"/>
          </a:xfrm>
          <a:prstGeom prst="rect">
            <a:avLst/>
          </a:prstGeom>
        </p:spPr>
      </p:pic>
      <p:pic>
        <p:nvPicPr>
          <p:cNvPr id="5" name="Picture 4"/>
          <p:cNvPicPr>
            <a:picLocks noChangeAspect="1"/>
          </p:cNvPicPr>
          <p:nvPr/>
        </p:nvPicPr>
        <p:blipFill>
          <a:blip r:embed="rId3"/>
          <a:stretch>
            <a:fillRect/>
          </a:stretch>
        </p:blipFill>
        <p:spPr>
          <a:xfrm>
            <a:off x="1055687" y="4013994"/>
            <a:ext cx="8116719" cy="494506"/>
          </a:xfrm>
          <a:prstGeom prst="rect">
            <a:avLst/>
          </a:prstGeom>
        </p:spPr>
      </p:pic>
    </p:spTree>
    <p:extLst>
      <p:ext uri="{BB962C8B-B14F-4D97-AF65-F5344CB8AC3E}">
        <p14:creationId xmlns:p14="http://schemas.microsoft.com/office/powerpoint/2010/main" val="40783767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a:t>
            </a:r>
          </a:p>
        </p:txBody>
      </p:sp>
      <p:sp>
        <p:nvSpPr>
          <p:cNvPr id="3" name="Content Placeholder 2"/>
          <p:cNvSpPr>
            <a:spLocks noGrp="1"/>
          </p:cNvSpPr>
          <p:nvPr>
            <p:ph idx="1"/>
          </p:nvPr>
        </p:nvSpPr>
        <p:spPr/>
        <p:txBody>
          <a:bodyPr/>
          <a:lstStyle/>
          <a:p>
            <a:r>
              <a:rPr lang="en-GB" dirty="0"/>
              <a:t>This command </a:t>
            </a:r>
            <a:r>
              <a:rPr lang="en-US" dirty="0"/>
              <a:t>moves a file from your Amazon S3 bucket to your current working directory, </a:t>
            </a:r>
          </a:p>
          <a:p>
            <a:endParaRPr lang="en-US" dirty="0"/>
          </a:p>
          <a:p>
            <a:endParaRPr lang="en-US" dirty="0"/>
          </a:p>
          <a:p>
            <a:r>
              <a:rPr lang="en-US" dirty="0"/>
              <a:t>The following example copies all objects from s3://bucket-name/example to s3://my-bucket/.</a:t>
            </a:r>
          </a:p>
          <a:p>
            <a:endParaRPr lang="en-US" dirty="0"/>
          </a:p>
          <a:p>
            <a:endParaRPr lang="en-GB" dirty="0"/>
          </a:p>
        </p:txBody>
      </p:sp>
      <p:pic>
        <p:nvPicPr>
          <p:cNvPr id="4" name="Picture 3"/>
          <p:cNvPicPr>
            <a:picLocks noChangeAspect="1"/>
          </p:cNvPicPr>
          <p:nvPr/>
        </p:nvPicPr>
        <p:blipFill>
          <a:blip r:embed="rId2"/>
          <a:stretch>
            <a:fillRect/>
          </a:stretch>
        </p:blipFill>
        <p:spPr>
          <a:xfrm>
            <a:off x="976312" y="2755900"/>
            <a:ext cx="5716588" cy="532869"/>
          </a:xfrm>
          <a:prstGeom prst="rect">
            <a:avLst/>
          </a:prstGeom>
        </p:spPr>
      </p:pic>
      <p:pic>
        <p:nvPicPr>
          <p:cNvPr id="6" name="Picture 5"/>
          <p:cNvPicPr>
            <a:picLocks noChangeAspect="1"/>
          </p:cNvPicPr>
          <p:nvPr/>
        </p:nvPicPr>
        <p:blipFill>
          <a:blip r:embed="rId3"/>
          <a:stretch>
            <a:fillRect/>
          </a:stretch>
        </p:blipFill>
        <p:spPr>
          <a:xfrm>
            <a:off x="1120774" y="4873624"/>
            <a:ext cx="6872605" cy="434975"/>
          </a:xfrm>
          <a:prstGeom prst="rect">
            <a:avLst/>
          </a:prstGeom>
        </p:spPr>
      </p:pic>
    </p:spTree>
    <p:extLst>
      <p:ext uri="{BB962C8B-B14F-4D97-AF65-F5344CB8AC3E}">
        <p14:creationId xmlns:p14="http://schemas.microsoft.com/office/powerpoint/2010/main" val="22232466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dirty="0"/>
              <a:t>                                             </a:t>
            </a:r>
          </a:p>
          <a:p>
            <a:pPr marL="0" indent="0">
              <a:buNone/>
            </a:pPr>
            <a:r>
              <a:rPr lang="en-GB" dirty="0"/>
              <a:t> </a:t>
            </a:r>
          </a:p>
          <a:p>
            <a:pPr marL="0" indent="0">
              <a:buNone/>
            </a:pPr>
            <a:endParaRPr lang="en-GB" dirty="0"/>
          </a:p>
          <a:p>
            <a:pPr marL="0" indent="0">
              <a:buNone/>
            </a:pPr>
            <a:r>
              <a:rPr lang="en-GB" sz="3600" dirty="0">
                <a:latin typeface="Times New Roman" panose="02020603050405020304" pitchFamily="18" charset="0"/>
                <a:cs typeface="Times New Roman" panose="02020603050405020304" pitchFamily="18" charset="0"/>
              </a:rPr>
              <a:t>                                         The End</a:t>
            </a:r>
          </a:p>
        </p:txBody>
      </p:sp>
    </p:spTree>
    <p:extLst>
      <p:ext uri="{BB962C8B-B14F-4D97-AF65-F5344CB8AC3E}">
        <p14:creationId xmlns:p14="http://schemas.microsoft.com/office/powerpoint/2010/main" val="2878249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657</TotalTime>
  <Words>2149</Words>
  <Application>Microsoft Office PowerPoint</Application>
  <PresentationFormat>Widescreen</PresentationFormat>
  <Paragraphs>155</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Times New Roman</vt:lpstr>
      <vt:lpstr>Wingdings</vt:lpstr>
      <vt:lpstr>Office Theme</vt:lpstr>
      <vt:lpstr>NoSql Database</vt:lpstr>
      <vt:lpstr>NoSql Database Features</vt:lpstr>
      <vt:lpstr>Amazon DynamoDB</vt:lpstr>
      <vt:lpstr>Core Components of Amazon DynamoDB</vt:lpstr>
      <vt:lpstr>Tables, Items, and Attributes</vt:lpstr>
      <vt:lpstr>Cont…</vt:lpstr>
      <vt:lpstr>Cont…</vt:lpstr>
      <vt:lpstr>DynamoDB API</vt:lpstr>
      <vt:lpstr>Control Plane</vt:lpstr>
      <vt:lpstr>Data Plane</vt:lpstr>
      <vt:lpstr>Cont…</vt:lpstr>
      <vt:lpstr>Data Types</vt:lpstr>
      <vt:lpstr>Table classes</vt:lpstr>
      <vt:lpstr>Cont…</vt:lpstr>
      <vt:lpstr>An Item and primary key</vt:lpstr>
      <vt:lpstr>Attributes, Attributes Types</vt:lpstr>
      <vt:lpstr>Cont…</vt:lpstr>
      <vt:lpstr>Creating table in dynamoDB</vt:lpstr>
      <vt:lpstr>Cont…</vt:lpstr>
      <vt:lpstr>Cont…</vt:lpstr>
      <vt:lpstr>Put Item</vt:lpstr>
      <vt:lpstr>Cont…</vt:lpstr>
      <vt:lpstr>Get Item</vt:lpstr>
      <vt:lpstr>Cont…</vt:lpstr>
      <vt:lpstr>Expression basics</vt:lpstr>
      <vt:lpstr>Cont…</vt:lpstr>
      <vt:lpstr>Cont…</vt:lpstr>
      <vt:lpstr>Update table</vt:lpstr>
      <vt:lpstr>Delete Item</vt:lpstr>
      <vt:lpstr>Cont…</vt:lpstr>
      <vt:lpstr>Scan the table</vt:lpstr>
      <vt:lpstr>Amazon S3</vt:lpstr>
      <vt:lpstr>Cont…</vt:lpstr>
      <vt:lpstr>Aws cli commands</vt:lpstr>
      <vt:lpstr>Cont…</vt:lpstr>
      <vt:lpstr>Cont..</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c:creator>
  <cp:lastModifiedBy>abate tsegaye</cp:lastModifiedBy>
  <cp:revision>198</cp:revision>
  <dcterms:created xsi:type="dcterms:W3CDTF">2022-06-15T06:25:53Z</dcterms:created>
  <dcterms:modified xsi:type="dcterms:W3CDTF">2025-12-31T08:29:41Z</dcterms:modified>
</cp:coreProperties>
</file>